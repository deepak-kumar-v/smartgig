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3" r:id="rId6"/>
    <p:sldId id="260" r:id="rId7"/>
    <p:sldId id="264" r:id="rId8"/>
    <p:sldId id="261" r:id="rId9"/>
    <p:sldId id="262" r:id="rId10"/>
  </p:sldIdLst>
  <p:sldSz cx="18288000" cy="10287000"/>
  <p:notesSz cx="6858000" cy="9144000"/>
  <p:embeddedFontLst>
    <p:embeddedFont>
      <p:font typeface="Garamond" panose="02020404030301010803" pitchFamily="18" charset="0"/>
      <p:regular r:id="rId12"/>
      <p:bold r:id="rId13"/>
      <p:italic r:id="rId14"/>
      <p:boldItalic r:id="rId15"/>
    </p:embeddedFont>
    <p:embeddedFont>
      <p:font typeface="Oswald" panose="00000500000000000000" pitchFamily="2"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52" d="100"/>
          <a:sy n="52" d="100"/>
        </p:scale>
        <p:origin x="87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86" name="Google Shape;86;p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87" name="Google Shape;87;p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90" name="Google Shape;90;p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02" name="Google Shape;102;p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03" name="Google Shape;103;p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06" name="Google Shape;106;p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17" name="Google Shape;117;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18" name="Google Shape;118;p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21" name="Google Shape;121;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33" name="Google Shape;133;p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34" name="Google Shape;134;p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6" name="Google Shape;136;p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37" name="Google Shape;137;p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6DC4237-6D51-96D9-42EF-38FABF7AAD44}"/>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69EE8BF6-1411-259C-02F7-484EFC2C8E1A}"/>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33" name="Google Shape;133;p4:notes">
            <a:extLst>
              <a:ext uri="{FF2B5EF4-FFF2-40B4-BE49-F238E27FC236}">
                <a16:creationId xmlns:a16="http://schemas.microsoft.com/office/drawing/2014/main" id="{66AB9A75-A1B9-8BD3-3770-72D32DBAD7C6}"/>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34" name="Google Shape;134;p4:notes">
            <a:extLst>
              <a:ext uri="{FF2B5EF4-FFF2-40B4-BE49-F238E27FC236}">
                <a16:creationId xmlns:a16="http://schemas.microsoft.com/office/drawing/2014/main" id="{10D4A31E-BD57-5380-2F2D-1A62F886BF40}"/>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4:notes">
            <a:extLst>
              <a:ext uri="{FF2B5EF4-FFF2-40B4-BE49-F238E27FC236}">
                <a16:creationId xmlns:a16="http://schemas.microsoft.com/office/drawing/2014/main" id="{6A34BAED-F15A-FFAC-8EEA-C5A363E56080}"/>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4:notes">
            <a:extLst>
              <a:ext uri="{FF2B5EF4-FFF2-40B4-BE49-F238E27FC236}">
                <a16:creationId xmlns:a16="http://schemas.microsoft.com/office/drawing/2014/main" id="{8A149AC4-7A14-7FC5-4B80-C9E84908ED41}"/>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37" name="Google Shape;137;p4:notes">
            <a:extLst>
              <a:ext uri="{FF2B5EF4-FFF2-40B4-BE49-F238E27FC236}">
                <a16:creationId xmlns:a16="http://schemas.microsoft.com/office/drawing/2014/main" id="{65C699EC-2C7C-AA89-5039-55AAF9E3655E}"/>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705934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50" name="Google Shape;150;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51" name="Google Shape;151;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54" name="Google Shape;154;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1AED14F3-BEB9-704F-598D-C6AE30F0E552}"/>
            </a:ext>
          </a:extLst>
        </p:cNvPr>
        <p:cNvGrpSpPr/>
        <p:nvPr/>
      </p:nvGrpSpPr>
      <p:grpSpPr>
        <a:xfrm>
          <a:off x="0" y="0"/>
          <a:ext cx="0" cy="0"/>
          <a:chOff x="0" y="0"/>
          <a:chExt cx="0" cy="0"/>
        </a:xfrm>
      </p:grpSpPr>
      <p:sp>
        <p:nvSpPr>
          <p:cNvPr id="149" name="Google Shape;149;p5:notes">
            <a:extLst>
              <a:ext uri="{FF2B5EF4-FFF2-40B4-BE49-F238E27FC236}">
                <a16:creationId xmlns:a16="http://schemas.microsoft.com/office/drawing/2014/main" id="{971A890F-A20D-BC9D-8FF1-109B56EEEA40}"/>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50" name="Google Shape;150;p5:notes">
            <a:extLst>
              <a:ext uri="{FF2B5EF4-FFF2-40B4-BE49-F238E27FC236}">
                <a16:creationId xmlns:a16="http://schemas.microsoft.com/office/drawing/2014/main" id="{E5B63FCF-911B-1C0E-F134-91560BC28E4D}"/>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51" name="Google Shape;151;p5:notes">
            <a:extLst>
              <a:ext uri="{FF2B5EF4-FFF2-40B4-BE49-F238E27FC236}">
                <a16:creationId xmlns:a16="http://schemas.microsoft.com/office/drawing/2014/main" id="{EDA9759D-5688-FE0C-8B65-D28EA8DF829A}"/>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5:notes">
            <a:extLst>
              <a:ext uri="{FF2B5EF4-FFF2-40B4-BE49-F238E27FC236}">
                <a16:creationId xmlns:a16="http://schemas.microsoft.com/office/drawing/2014/main" id="{0A12F448-D9A9-1E62-CCFD-13DC9D7F674A}"/>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5:notes">
            <a:extLst>
              <a:ext uri="{FF2B5EF4-FFF2-40B4-BE49-F238E27FC236}">
                <a16:creationId xmlns:a16="http://schemas.microsoft.com/office/drawing/2014/main" id="{A69BFFB2-7565-33F5-CAC8-FF616D1955F0}"/>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54" name="Google Shape;154;p5:notes">
            <a:extLst>
              <a:ext uri="{FF2B5EF4-FFF2-40B4-BE49-F238E27FC236}">
                <a16:creationId xmlns:a16="http://schemas.microsoft.com/office/drawing/2014/main" id="{DBB4D44B-7DDC-0CF3-6FD1-225CE12E083E}"/>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832173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66" name="Google Shape;166;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67" name="Google Shape;167;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70" name="Google Shape;170;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82" name="Google Shape;182;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83" name="Google Shape;183;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86" name="Google Shape;186;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p:nvPr/>
        </p:nvSpPr>
        <p:spPr>
          <a:xfrm>
            <a:off x="15265730" y="275158"/>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93" name="Google Shape;93;p13"/>
          <p:cNvSpPr/>
          <p:nvPr/>
        </p:nvSpPr>
        <p:spPr>
          <a:xfrm>
            <a:off x="6610379" y="3945692"/>
            <a:ext cx="11955364" cy="4471369"/>
          </a:xfrm>
          <a:custGeom>
            <a:avLst/>
            <a:gdLst/>
            <a:ahLst/>
            <a:cxnLst/>
            <a:rect l="l" t="t" r="r" b="b"/>
            <a:pathLst>
              <a:path w="11955364" h="4471369" extrusionOk="0">
                <a:moveTo>
                  <a:pt x="0" y="0"/>
                </a:moveTo>
                <a:lnTo>
                  <a:pt x="11955365" y="0"/>
                </a:lnTo>
                <a:lnTo>
                  <a:pt x="11955365" y="4471369"/>
                </a:lnTo>
                <a:lnTo>
                  <a:pt x="0" y="4471369"/>
                </a:lnTo>
                <a:lnTo>
                  <a:pt x="0" y="0"/>
                </a:lnTo>
                <a:close/>
              </a:path>
            </a:pathLst>
          </a:custGeom>
          <a:blipFill rotWithShape="1">
            <a:blip r:embed="rId4">
              <a:alphaModFix amt="30000"/>
            </a:blip>
            <a:stretch>
              <a:fillRect t="-83947" b="-83418"/>
            </a:stretch>
          </a:blipFill>
          <a:ln>
            <a:noFill/>
          </a:ln>
        </p:spPr>
      </p:sp>
      <p:sp>
        <p:nvSpPr>
          <p:cNvPr id="94" name="Google Shape;94;p13"/>
          <p:cNvSpPr txBox="1"/>
          <p:nvPr/>
        </p:nvSpPr>
        <p:spPr>
          <a:xfrm>
            <a:off x="658370" y="2614922"/>
            <a:ext cx="5386128" cy="1623468"/>
          </a:xfrm>
          <a:prstGeom prst="rect">
            <a:avLst/>
          </a:prstGeom>
          <a:noFill/>
          <a:ln>
            <a:noFill/>
          </a:ln>
        </p:spPr>
        <p:txBody>
          <a:bodyPr spcFirstLastPara="1" wrap="square" lIns="0" tIns="0" rIns="0" bIns="0" anchor="t" anchorCtr="0">
            <a:spAutoFit/>
          </a:bodyPr>
          <a:lstStyle/>
          <a:p>
            <a:pPr marL="0" marR="0" lvl="0" indent="0" algn="ctr" rtl="0">
              <a:lnSpc>
                <a:spcPct val="355055"/>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119996"/>
              </a:lnSpc>
              <a:spcBef>
                <a:spcPts val="0"/>
              </a:spcBef>
              <a:spcAft>
                <a:spcPts val="0"/>
              </a:spcAft>
              <a:buNone/>
            </a:pPr>
            <a:r>
              <a:rPr lang="en-US" sz="5326" b="1" i="0" u="none" strike="noStrike" cap="none">
                <a:solidFill>
                  <a:srgbClr val="000000"/>
                </a:solidFill>
                <a:latin typeface="Arial"/>
                <a:ea typeface="Arial"/>
                <a:cs typeface="Arial"/>
                <a:sym typeface="Arial"/>
              </a:rPr>
              <a:t>TITLE PAGE</a:t>
            </a:r>
            <a:endParaRPr/>
          </a:p>
        </p:txBody>
      </p:sp>
      <p:sp>
        <p:nvSpPr>
          <p:cNvPr id="95" name="Google Shape;95;p13"/>
          <p:cNvSpPr txBox="1"/>
          <p:nvPr/>
        </p:nvSpPr>
        <p:spPr>
          <a:xfrm>
            <a:off x="6044498" y="976622"/>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a:solidFill>
                  <a:srgbClr val="1F497D"/>
                </a:solidFill>
                <a:latin typeface="Garamond"/>
                <a:ea typeface="Garamond"/>
                <a:cs typeface="Garamond"/>
                <a:sym typeface="Garamond"/>
              </a:rPr>
              <a:t>SATWA 202</a:t>
            </a:r>
            <a:r>
              <a:rPr lang="en-US" sz="7499" b="1">
                <a:solidFill>
                  <a:srgbClr val="1F497D"/>
                </a:solidFill>
                <a:latin typeface="Garamond"/>
                <a:ea typeface="Garamond"/>
                <a:cs typeface="Garamond"/>
                <a:sym typeface="Garamond"/>
              </a:rPr>
              <a:t>6</a:t>
            </a:r>
            <a:endParaRPr/>
          </a:p>
        </p:txBody>
      </p:sp>
      <p:sp>
        <p:nvSpPr>
          <p:cNvPr id="96" name="Google Shape;96;p13"/>
          <p:cNvSpPr txBox="1"/>
          <p:nvPr/>
        </p:nvSpPr>
        <p:spPr>
          <a:xfrm>
            <a:off x="2285124" y="2052947"/>
            <a:ext cx="13717800" cy="11151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a:solidFill>
                  <a:srgbClr val="000000"/>
                </a:solidFill>
                <a:latin typeface="Arial"/>
                <a:ea typeface="Arial"/>
                <a:cs typeface="Arial"/>
                <a:sym typeface="Arial"/>
              </a:rPr>
              <a:t>TITLE</a:t>
            </a:r>
            <a:r>
              <a:rPr lang="en-US" sz="3291" b="1" i="0" u="none" strike="noStrike" cap="none">
                <a:solidFill>
                  <a:srgbClr val="000000"/>
                </a:solidFill>
                <a:latin typeface="Arial"/>
                <a:ea typeface="Arial"/>
                <a:cs typeface="Arial"/>
                <a:sym typeface="Arial"/>
              </a:rPr>
              <a:t> : </a:t>
            </a:r>
            <a:r>
              <a:rPr lang="en-US" sz="3291" i="1"/>
              <a:t>Engineering Resilience - Designing for Uncertainty</a:t>
            </a:r>
            <a:endParaRPr i="1"/>
          </a:p>
          <a:p>
            <a:pPr marL="0" marR="0" lvl="0" indent="0" algn="ctr" rtl="0">
              <a:lnSpc>
                <a:spcPct val="120018"/>
              </a:lnSpc>
              <a:spcBef>
                <a:spcPts val="0"/>
              </a:spcBef>
              <a:spcAft>
                <a:spcPts val="0"/>
              </a:spcAft>
              <a:buNone/>
            </a:pPr>
            <a:endParaRPr sz="3291" b="0" i="0" u="none" strike="noStrike" cap="none">
              <a:solidFill>
                <a:srgbClr val="000000"/>
              </a:solidFill>
              <a:latin typeface="Arial"/>
              <a:ea typeface="Arial"/>
              <a:cs typeface="Arial"/>
              <a:sym typeface="Arial"/>
            </a:endParaRPr>
          </a:p>
        </p:txBody>
      </p:sp>
      <p:sp>
        <p:nvSpPr>
          <p:cNvPr id="97" name="Google Shape;97;p13"/>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98" name="Google Shape;98;p13"/>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a:t>
            </a:r>
            <a:r>
              <a:rPr lang="en-US" sz="1800" b="0" i="0" u="none" strike="noStrike" cap="none">
                <a:solidFill>
                  <a:srgbClr val="FFFFFF"/>
                </a:solidFill>
                <a:latin typeface="Oswald"/>
                <a:ea typeface="Oswald"/>
                <a:cs typeface="Oswald"/>
                <a:sym typeface="Oswald"/>
              </a:rPr>
              <a:t> - Template</a:t>
            </a:r>
            <a:endParaRPr/>
          </a:p>
        </p:txBody>
      </p:sp>
      <p:sp>
        <p:nvSpPr>
          <p:cNvPr id="99" name="Google Shape;99;p13"/>
          <p:cNvSpPr txBox="1"/>
          <p:nvPr/>
        </p:nvSpPr>
        <p:spPr>
          <a:xfrm>
            <a:off x="1028700" y="3812171"/>
            <a:ext cx="16979081" cy="4481227"/>
          </a:xfrm>
          <a:prstGeom prst="rect">
            <a:avLst/>
          </a:prstGeom>
          <a:noFill/>
          <a:ln>
            <a:noFill/>
          </a:ln>
        </p:spPr>
        <p:txBody>
          <a:bodyPr spcFirstLastPara="1" wrap="square" lIns="0" tIns="0" rIns="0" bIns="0" anchor="t" anchorCtr="0">
            <a:spAutoFit/>
          </a:bodyPr>
          <a:lstStyle/>
          <a:p>
            <a:pPr marL="0" marR="0" lvl="0" indent="0" algn="l" rtl="0">
              <a:lnSpc>
                <a:spcPct val="319944"/>
              </a:lnSpc>
              <a:spcBef>
                <a:spcPts val="0"/>
              </a:spcBef>
              <a:spcAft>
                <a:spcPts val="0"/>
              </a:spcAft>
              <a:buNone/>
            </a:pPr>
            <a:endParaRPr sz="2800" b="0" i="0" u="none" strike="noStrike" cap="none" dirty="0">
              <a:solidFill>
                <a:schemeClr val="dk1"/>
              </a:solidFill>
              <a:latin typeface="Calibri"/>
              <a:ea typeface="Calibri"/>
              <a:cs typeface="Calibri"/>
              <a:sym typeface="Calibri"/>
            </a:endParaRPr>
          </a:p>
          <a:p>
            <a:pPr marL="760095" marR="0" lvl="1" indent="-380047" algn="just" rtl="0">
              <a:lnSpc>
                <a:spcPct val="120000"/>
              </a:lnSpc>
              <a:spcBef>
                <a:spcPts val="0"/>
              </a:spcBef>
              <a:spcAft>
                <a:spcPts val="0"/>
              </a:spcAft>
              <a:buClr>
                <a:srgbClr val="000000"/>
              </a:buClr>
              <a:buSzPts val="4200"/>
              <a:buFont typeface="Arial"/>
              <a:buChar char="•"/>
            </a:pPr>
            <a:r>
              <a:rPr lang="en-US" sz="2800" b="0" i="0" u="none" strike="noStrike" cap="none" dirty="0">
                <a:solidFill>
                  <a:srgbClr val="000000"/>
                </a:solidFill>
                <a:latin typeface="Arial"/>
                <a:ea typeface="Arial"/>
                <a:cs typeface="Arial"/>
                <a:sym typeface="Arial"/>
              </a:rPr>
              <a:t>Problem Statement Title – </a:t>
            </a:r>
            <a:r>
              <a:rPr lang="en-US" sz="2800" b="0" i="0" u="none" strike="noStrike" cap="none" dirty="0" err="1">
                <a:solidFill>
                  <a:srgbClr val="000000"/>
                </a:solidFill>
                <a:latin typeface="Arial"/>
                <a:ea typeface="Arial"/>
                <a:cs typeface="Arial"/>
                <a:sym typeface="Arial"/>
              </a:rPr>
              <a:t>SmartGIG</a:t>
            </a:r>
            <a:r>
              <a:rPr lang="en-US" sz="2800" b="0" i="0" u="none" strike="noStrike" cap="none" dirty="0">
                <a:solidFill>
                  <a:srgbClr val="000000"/>
                </a:solidFill>
                <a:latin typeface="Arial"/>
                <a:ea typeface="Arial"/>
                <a:cs typeface="Arial"/>
                <a:sym typeface="Arial"/>
              </a:rPr>
              <a:t> : A Freelancing Platform for Modern Workforce Management</a:t>
            </a:r>
            <a:endParaRPr sz="2800" dirty="0"/>
          </a:p>
          <a:p>
            <a:pPr marL="760095" marR="0" lvl="1" indent="-380047" algn="just" rtl="0">
              <a:lnSpc>
                <a:spcPct val="120000"/>
              </a:lnSpc>
              <a:spcBef>
                <a:spcPts val="0"/>
              </a:spcBef>
              <a:spcAft>
                <a:spcPts val="0"/>
              </a:spcAft>
              <a:buClr>
                <a:srgbClr val="000000"/>
              </a:buClr>
              <a:buSzPts val="4200"/>
              <a:buFont typeface="Arial"/>
              <a:buChar char="•"/>
            </a:pPr>
            <a:r>
              <a:rPr lang="en-US" sz="2800" b="0" i="0" u="none" strike="noStrike" cap="none" dirty="0">
                <a:solidFill>
                  <a:srgbClr val="000000"/>
                </a:solidFill>
                <a:latin typeface="Arial"/>
                <a:ea typeface="Arial"/>
                <a:cs typeface="Arial"/>
                <a:sym typeface="Arial"/>
              </a:rPr>
              <a:t>Team Name – TECH PANTHOMS</a:t>
            </a:r>
            <a:endParaRPr sz="2800" dirty="0"/>
          </a:p>
          <a:p>
            <a:pPr marL="760095" marR="0" lvl="1" indent="-380047" algn="just" rtl="0">
              <a:lnSpc>
                <a:spcPct val="120000"/>
              </a:lnSpc>
              <a:spcBef>
                <a:spcPts val="0"/>
              </a:spcBef>
              <a:spcAft>
                <a:spcPts val="0"/>
              </a:spcAft>
              <a:buClr>
                <a:srgbClr val="000000"/>
              </a:buClr>
              <a:buSzPts val="4200"/>
              <a:buFont typeface="Arial"/>
              <a:buChar char="•"/>
            </a:pPr>
            <a:r>
              <a:rPr lang="en-US" sz="2800" b="0" i="0" u="none" strike="noStrike" cap="none" dirty="0">
                <a:solidFill>
                  <a:srgbClr val="000000"/>
                </a:solidFill>
                <a:latin typeface="Arial"/>
                <a:ea typeface="Arial"/>
                <a:cs typeface="Arial"/>
                <a:sym typeface="Arial"/>
              </a:rPr>
              <a:t>College Name – BANNARI AMMAN INSTITUTE OF TECHNOLOGY</a:t>
            </a:r>
            <a:endParaRPr sz="2800" dirty="0"/>
          </a:p>
          <a:p>
            <a:pPr marL="760095" lvl="1" indent="-380047" algn="just">
              <a:lnSpc>
                <a:spcPct val="120000"/>
              </a:lnSpc>
              <a:buSzPts val="4200"/>
              <a:buFont typeface="Arial"/>
              <a:buChar char="•"/>
            </a:pPr>
            <a:r>
              <a:rPr lang="en-US" sz="2800" b="0" i="0" u="none" strike="noStrike" cap="none" dirty="0">
                <a:solidFill>
                  <a:srgbClr val="000000"/>
                </a:solidFill>
                <a:latin typeface="Arial"/>
                <a:ea typeface="Arial"/>
                <a:cs typeface="Arial"/>
                <a:sym typeface="Arial"/>
              </a:rPr>
              <a:t>College Address – Bhavani State Highway, </a:t>
            </a:r>
            <a:r>
              <a:rPr lang="en-IN" sz="2800" dirty="0" err="1"/>
              <a:t>Alathukombai</a:t>
            </a:r>
            <a:r>
              <a:rPr lang="en-IN" sz="2800" dirty="0"/>
              <a:t> Post, </a:t>
            </a:r>
            <a:r>
              <a:rPr lang="en-IN" sz="2800" dirty="0" err="1"/>
              <a:t>Sathyamangalam</a:t>
            </a:r>
            <a:r>
              <a:rPr lang="en-IN" sz="2800" dirty="0"/>
              <a:t>, Erode District, Tamil Nadu, 638401 </a:t>
            </a:r>
            <a:endParaRPr sz="2800" b="0" i="0" u="none" strike="noStrike" cap="none" dirty="0">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p:nvPr/>
        </p:nvSpPr>
        <p:spPr>
          <a:xfrm>
            <a:off x="15265730" y="-359016"/>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09" name="Google Shape;109;p14"/>
          <p:cNvSpPr/>
          <p:nvPr/>
        </p:nvSpPr>
        <p:spPr>
          <a:xfrm>
            <a:off x="6610379" y="3945692"/>
            <a:ext cx="11955364" cy="4471369"/>
          </a:xfrm>
          <a:custGeom>
            <a:avLst/>
            <a:gdLst/>
            <a:ahLst/>
            <a:cxnLst/>
            <a:rect l="l" t="t" r="r" b="b"/>
            <a:pathLst>
              <a:path w="11955364" h="4471369" extrusionOk="0">
                <a:moveTo>
                  <a:pt x="0" y="0"/>
                </a:moveTo>
                <a:lnTo>
                  <a:pt x="11955365" y="0"/>
                </a:lnTo>
                <a:lnTo>
                  <a:pt x="11955365" y="4471369"/>
                </a:lnTo>
                <a:lnTo>
                  <a:pt x="0" y="4471369"/>
                </a:lnTo>
                <a:lnTo>
                  <a:pt x="0" y="0"/>
                </a:lnTo>
                <a:close/>
              </a:path>
            </a:pathLst>
          </a:custGeom>
          <a:blipFill rotWithShape="1">
            <a:blip r:embed="rId4">
              <a:alphaModFix amt="30000"/>
            </a:blip>
            <a:stretch>
              <a:fillRect t="-83947" b="-83418"/>
            </a:stretch>
          </a:blipFill>
          <a:ln>
            <a:noFill/>
          </a:ln>
        </p:spPr>
        <p:txBody>
          <a:bodyPr/>
          <a:lstStyle/>
          <a:p>
            <a:endParaRPr lang="en-IN" dirty="0"/>
          </a:p>
        </p:txBody>
      </p:sp>
      <p:sp>
        <p:nvSpPr>
          <p:cNvPr id="110" name="Google Shape;110;p14"/>
          <p:cNvSpPr txBox="1"/>
          <p:nvPr/>
        </p:nvSpPr>
        <p:spPr>
          <a:xfrm>
            <a:off x="6044498" y="342448"/>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dirty="0">
                <a:solidFill>
                  <a:srgbClr val="1F497D"/>
                </a:solidFill>
                <a:latin typeface="Garamond"/>
                <a:ea typeface="Garamond"/>
                <a:cs typeface="Garamond"/>
                <a:sym typeface="Garamond"/>
              </a:rPr>
              <a:t>SATWA 202</a:t>
            </a:r>
            <a:r>
              <a:rPr lang="en-US" sz="7499" b="1" dirty="0">
                <a:solidFill>
                  <a:srgbClr val="1F497D"/>
                </a:solidFill>
                <a:latin typeface="Garamond"/>
                <a:ea typeface="Garamond"/>
                <a:cs typeface="Garamond"/>
                <a:sym typeface="Garamond"/>
              </a:rPr>
              <a:t>6</a:t>
            </a:r>
            <a:endParaRPr dirty="0"/>
          </a:p>
        </p:txBody>
      </p:sp>
      <p:sp>
        <p:nvSpPr>
          <p:cNvPr id="111" name="Google Shape;111;p14"/>
          <p:cNvSpPr txBox="1"/>
          <p:nvPr/>
        </p:nvSpPr>
        <p:spPr>
          <a:xfrm>
            <a:off x="2285124" y="1418773"/>
            <a:ext cx="13717800" cy="11151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dirty="0">
                <a:solidFill>
                  <a:srgbClr val="000000"/>
                </a:solidFill>
                <a:latin typeface="Arial"/>
                <a:ea typeface="Arial"/>
                <a:cs typeface="Arial"/>
                <a:sym typeface="Arial"/>
              </a:rPr>
              <a:t>TITLE</a:t>
            </a:r>
            <a:r>
              <a:rPr lang="en-US" sz="3291" b="1" i="0" u="none" strike="noStrike" cap="none" dirty="0">
                <a:solidFill>
                  <a:srgbClr val="000000"/>
                </a:solidFill>
                <a:latin typeface="Arial"/>
                <a:ea typeface="Arial"/>
                <a:cs typeface="Arial"/>
                <a:sym typeface="Arial"/>
              </a:rPr>
              <a:t> : </a:t>
            </a:r>
            <a:r>
              <a:rPr lang="en-US" sz="3291" i="1" dirty="0"/>
              <a:t>Engineering Resilience - Designing for Uncertainty</a:t>
            </a:r>
            <a:endParaRPr i="1" dirty="0"/>
          </a:p>
          <a:p>
            <a:pPr marL="0" marR="0" lvl="0" indent="0" algn="ctr" rtl="0">
              <a:lnSpc>
                <a:spcPct val="120018"/>
              </a:lnSpc>
              <a:spcBef>
                <a:spcPts val="0"/>
              </a:spcBef>
              <a:spcAft>
                <a:spcPts val="0"/>
              </a:spcAft>
              <a:buNone/>
            </a:pPr>
            <a:endParaRPr sz="3291" b="0" i="0" u="none" strike="noStrike" cap="none" dirty="0">
              <a:solidFill>
                <a:srgbClr val="000000"/>
              </a:solidFill>
              <a:latin typeface="Arial"/>
              <a:ea typeface="Arial"/>
              <a:cs typeface="Arial"/>
              <a:sym typeface="Arial"/>
            </a:endParaRPr>
          </a:p>
        </p:txBody>
      </p:sp>
      <p:sp>
        <p:nvSpPr>
          <p:cNvPr id="112" name="Google Shape;112;p14"/>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113" name="Google Shape;113;p14"/>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 </a:t>
            </a:r>
            <a:r>
              <a:rPr lang="en-US" sz="1800" b="0" i="0" u="none" strike="noStrike" cap="none">
                <a:solidFill>
                  <a:srgbClr val="FFFFFF"/>
                </a:solidFill>
                <a:latin typeface="Oswald"/>
                <a:ea typeface="Oswald"/>
                <a:cs typeface="Oswald"/>
                <a:sym typeface="Oswald"/>
              </a:rPr>
              <a:t>- Template</a:t>
            </a:r>
            <a:endParaRPr/>
          </a:p>
        </p:txBody>
      </p:sp>
      <p:sp>
        <p:nvSpPr>
          <p:cNvPr id="114" name="Google Shape;114;p14"/>
          <p:cNvSpPr txBox="1"/>
          <p:nvPr/>
        </p:nvSpPr>
        <p:spPr>
          <a:xfrm>
            <a:off x="1385073" y="2228811"/>
            <a:ext cx="5489653" cy="629724"/>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3707" b="1" i="0" u="none" strike="noStrike" cap="none" dirty="0">
                <a:solidFill>
                  <a:srgbClr val="000000"/>
                </a:solidFill>
                <a:latin typeface="Arial"/>
                <a:ea typeface="Arial"/>
                <a:cs typeface="Arial"/>
                <a:sym typeface="Arial"/>
              </a:rPr>
              <a:t>PROBLEM STATEMENT</a:t>
            </a:r>
            <a:endParaRPr dirty="0"/>
          </a:p>
        </p:txBody>
      </p:sp>
      <p:sp>
        <p:nvSpPr>
          <p:cNvPr id="2" name="TextBox 1">
            <a:extLst>
              <a:ext uri="{FF2B5EF4-FFF2-40B4-BE49-F238E27FC236}">
                <a16:creationId xmlns:a16="http://schemas.microsoft.com/office/drawing/2014/main" id="{9846D63B-EF06-9D3A-64D2-28EA26BD0932}"/>
              </a:ext>
            </a:extLst>
          </p:cNvPr>
          <p:cNvSpPr txBox="1"/>
          <p:nvPr/>
        </p:nvSpPr>
        <p:spPr>
          <a:xfrm>
            <a:off x="1385073" y="3169174"/>
            <a:ext cx="13579358" cy="4819524"/>
          </a:xfrm>
          <a:prstGeom prst="rect">
            <a:avLst/>
          </a:prstGeom>
          <a:noFill/>
        </p:spPr>
        <p:txBody>
          <a:bodyPr wrap="none" rtlCol="0">
            <a:spAutoFit/>
          </a:bodyPr>
          <a:lstStyle/>
          <a:p>
            <a:pPr>
              <a:lnSpc>
                <a:spcPct val="150000"/>
              </a:lnSpc>
            </a:pPr>
            <a:r>
              <a:rPr lang="en-IN" sz="2600" b="1" dirty="0"/>
              <a:t>The Freelancing Ecosystem Has Structural Trust Gaps</a:t>
            </a:r>
          </a:p>
          <a:p>
            <a:pPr marL="457200" lvl="3" indent="-457200">
              <a:lnSpc>
                <a:spcPct val="150000"/>
              </a:lnSpc>
              <a:buFont typeface="Arial" panose="020B0604020202020204" pitchFamily="34" charset="0"/>
              <a:buChar char="•"/>
            </a:pPr>
            <a:r>
              <a:rPr lang="en-IN" sz="2600" dirty="0"/>
              <a:t>The global freelance economy is growing rapidly but current platforms still struggle with:</a:t>
            </a:r>
          </a:p>
          <a:p>
            <a:pPr marL="457200" lvl="3" indent="-457200">
              <a:lnSpc>
                <a:spcPct val="150000"/>
              </a:lnSpc>
              <a:buFont typeface="Arial" panose="020B0604020202020204" pitchFamily="34" charset="0"/>
              <a:buChar char="•"/>
            </a:pPr>
            <a:r>
              <a:rPr lang="en-GB" sz="2600" dirty="0"/>
              <a:t>Financial disputes take weeks to resolve, causing income instability.</a:t>
            </a:r>
          </a:p>
          <a:p>
            <a:pPr marL="457200" lvl="3" indent="-457200">
              <a:lnSpc>
                <a:spcPct val="150000"/>
              </a:lnSpc>
              <a:buFont typeface="Arial" panose="020B0604020202020204" pitchFamily="34" charset="0"/>
              <a:buChar char="•"/>
            </a:pPr>
            <a:r>
              <a:rPr lang="en-GB" sz="2600" dirty="0"/>
              <a:t>Fake profiles and multi-account fraud reduce platform integrity.</a:t>
            </a:r>
          </a:p>
          <a:p>
            <a:pPr marL="457200" lvl="3" indent="-457200">
              <a:lnSpc>
                <a:spcPct val="150000"/>
              </a:lnSpc>
              <a:buFont typeface="Arial" panose="020B0604020202020204" pitchFamily="34" charset="0"/>
              <a:buChar char="•"/>
            </a:pPr>
            <a:r>
              <a:rPr lang="en-GB" sz="2600" dirty="0"/>
              <a:t>Skill claims are rarely verified before hiring.</a:t>
            </a:r>
          </a:p>
          <a:p>
            <a:pPr marL="457200" lvl="3" indent="-457200">
              <a:lnSpc>
                <a:spcPct val="150000"/>
              </a:lnSpc>
              <a:buFont typeface="Arial" panose="020B0604020202020204" pitchFamily="34" charset="0"/>
              <a:buChar char="•"/>
            </a:pPr>
            <a:r>
              <a:rPr lang="en-GB" sz="2600" dirty="0"/>
              <a:t>Reputation systems rely on single ratings that are easy to manipulate.</a:t>
            </a:r>
          </a:p>
          <a:p>
            <a:pPr marL="457200" lvl="3" indent="-457200">
              <a:lnSpc>
                <a:spcPct val="150000"/>
              </a:lnSpc>
              <a:buFont typeface="Arial" panose="020B0604020202020204" pitchFamily="34" charset="0"/>
              <a:buChar char="•"/>
            </a:pPr>
            <a:r>
              <a:rPr lang="en-GB" sz="2600" dirty="0"/>
              <a:t>Clients face uncertainty when hiring unknown talent.</a:t>
            </a:r>
          </a:p>
          <a:p>
            <a:pPr marL="457200" lvl="3" indent="-457200">
              <a:lnSpc>
                <a:spcPct val="150000"/>
              </a:lnSpc>
              <a:buFont typeface="Arial" panose="020B0604020202020204" pitchFamily="34" charset="0"/>
              <a:buChar char="•"/>
            </a:pPr>
            <a:r>
              <a:rPr lang="en-GB" sz="2600" dirty="0"/>
              <a:t>Freelancers face burnout due to hidden workload expectations.</a:t>
            </a:r>
          </a:p>
        </p:txBody>
      </p:sp>
      <p:sp>
        <p:nvSpPr>
          <p:cNvPr id="4" name="TextBox 3">
            <a:extLst>
              <a:ext uri="{FF2B5EF4-FFF2-40B4-BE49-F238E27FC236}">
                <a16:creationId xmlns:a16="http://schemas.microsoft.com/office/drawing/2014/main" id="{592B6706-6910-B726-0A9F-A37BD72548BE}"/>
              </a:ext>
            </a:extLst>
          </p:cNvPr>
          <p:cNvSpPr txBox="1"/>
          <p:nvPr/>
        </p:nvSpPr>
        <p:spPr>
          <a:xfrm>
            <a:off x="2595716" y="8126361"/>
            <a:ext cx="184731" cy="307777"/>
          </a:xfrm>
          <a:prstGeom prst="rect">
            <a:avLst/>
          </a:prstGeom>
          <a:noFill/>
        </p:spPr>
        <p:txBody>
          <a:bodyPr wrap="none" rtlCol="0">
            <a:spAutoFit/>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5"/>
          <p:cNvSpPr/>
          <p:nvPr/>
        </p:nvSpPr>
        <p:spPr>
          <a:xfrm>
            <a:off x="15236234" y="-366687"/>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24" name="Google Shape;124;p15"/>
          <p:cNvSpPr/>
          <p:nvPr/>
        </p:nvSpPr>
        <p:spPr>
          <a:xfrm>
            <a:off x="6610379" y="3945692"/>
            <a:ext cx="11955364" cy="4471369"/>
          </a:xfrm>
          <a:custGeom>
            <a:avLst/>
            <a:gdLst/>
            <a:ahLst/>
            <a:cxnLst/>
            <a:rect l="l" t="t" r="r" b="b"/>
            <a:pathLst>
              <a:path w="11955364" h="4471369" extrusionOk="0">
                <a:moveTo>
                  <a:pt x="0" y="0"/>
                </a:moveTo>
                <a:lnTo>
                  <a:pt x="11955365" y="0"/>
                </a:lnTo>
                <a:lnTo>
                  <a:pt x="11955365" y="4471369"/>
                </a:lnTo>
                <a:lnTo>
                  <a:pt x="0" y="4471369"/>
                </a:lnTo>
                <a:lnTo>
                  <a:pt x="0" y="0"/>
                </a:lnTo>
                <a:close/>
              </a:path>
            </a:pathLst>
          </a:custGeom>
          <a:blipFill rotWithShape="1">
            <a:blip r:embed="rId4">
              <a:alphaModFix amt="30000"/>
            </a:blip>
            <a:stretch>
              <a:fillRect t="-83947" b="-83418"/>
            </a:stretch>
          </a:blipFill>
          <a:ln>
            <a:noFill/>
          </a:ln>
        </p:spPr>
      </p:sp>
      <p:sp>
        <p:nvSpPr>
          <p:cNvPr id="125" name="Google Shape;125;p15"/>
          <p:cNvSpPr txBox="1"/>
          <p:nvPr/>
        </p:nvSpPr>
        <p:spPr>
          <a:xfrm>
            <a:off x="6015002" y="334777"/>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a:solidFill>
                  <a:srgbClr val="1F497D"/>
                </a:solidFill>
                <a:latin typeface="Garamond"/>
                <a:ea typeface="Garamond"/>
                <a:cs typeface="Garamond"/>
                <a:sym typeface="Garamond"/>
              </a:rPr>
              <a:t>SATWA 202</a:t>
            </a:r>
            <a:r>
              <a:rPr lang="en-US" sz="7499" b="1">
                <a:solidFill>
                  <a:srgbClr val="1F497D"/>
                </a:solidFill>
                <a:latin typeface="Garamond"/>
                <a:ea typeface="Garamond"/>
                <a:cs typeface="Garamond"/>
                <a:sym typeface="Garamond"/>
              </a:rPr>
              <a:t>6</a:t>
            </a:r>
            <a:endParaRPr/>
          </a:p>
        </p:txBody>
      </p:sp>
      <p:sp>
        <p:nvSpPr>
          <p:cNvPr id="126" name="Google Shape;126;p15"/>
          <p:cNvSpPr txBox="1"/>
          <p:nvPr/>
        </p:nvSpPr>
        <p:spPr>
          <a:xfrm>
            <a:off x="2255628" y="1411102"/>
            <a:ext cx="13717800" cy="11151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a:solidFill>
                  <a:srgbClr val="000000"/>
                </a:solidFill>
                <a:latin typeface="Arial"/>
                <a:ea typeface="Arial"/>
                <a:cs typeface="Arial"/>
                <a:sym typeface="Arial"/>
              </a:rPr>
              <a:t>TITLE</a:t>
            </a:r>
            <a:r>
              <a:rPr lang="en-US" sz="3291" b="1" i="0" u="none" strike="noStrike" cap="none">
                <a:solidFill>
                  <a:srgbClr val="000000"/>
                </a:solidFill>
                <a:latin typeface="Arial"/>
                <a:ea typeface="Arial"/>
                <a:cs typeface="Arial"/>
                <a:sym typeface="Arial"/>
              </a:rPr>
              <a:t> : </a:t>
            </a:r>
            <a:r>
              <a:rPr lang="en-US" sz="3291" i="1"/>
              <a:t>Engineering Resilience - Designing for Uncertainty</a:t>
            </a:r>
            <a:endParaRPr i="1"/>
          </a:p>
          <a:p>
            <a:pPr marL="0" marR="0" lvl="0" indent="0" algn="ctr" rtl="0">
              <a:lnSpc>
                <a:spcPct val="120018"/>
              </a:lnSpc>
              <a:spcBef>
                <a:spcPts val="0"/>
              </a:spcBef>
              <a:spcAft>
                <a:spcPts val="0"/>
              </a:spcAft>
              <a:buNone/>
            </a:pPr>
            <a:endParaRPr sz="3291" b="0" i="0" u="none" strike="noStrike" cap="none">
              <a:solidFill>
                <a:srgbClr val="000000"/>
              </a:solidFill>
              <a:latin typeface="Arial"/>
              <a:ea typeface="Arial"/>
              <a:cs typeface="Arial"/>
              <a:sym typeface="Arial"/>
            </a:endParaRPr>
          </a:p>
        </p:txBody>
      </p:sp>
      <p:sp>
        <p:nvSpPr>
          <p:cNvPr id="127" name="Google Shape;127;p15"/>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128" name="Google Shape;128;p15"/>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 </a:t>
            </a:r>
            <a:r>
              <a:rPr lang="en-US" sz="1800" b="0" i="0" u="none" strike="noStrike" cap="none">
                <a:solidFill>
                  <a:srgbClr val="FFFFFF"/>
                </a:solidFill>
                <a:latin typeface="Oswald"/>
                <a:ea typeface="Oswald"/>
                <a:cs typeface="Oswald"/>
                <a:sym typeface="Oswald"/>
              </a:rPr>
              <a:t>- Template</a:t>
            </a:r>
            <a:endParaRPr/>
          </a:p>
        </p:txBody>
      </p:sp>
      <p:sp>
        <p:nvSpPr>
          <p:cNvPr id="129" name="Google Shape;129;p15"/>
          <p:cNvSpPr txBox="1"/>
          <p:nvPr/>
        </p:nvSpPr>
        <p:spPr>
          <a:xfrm>
            <a:off x="999204" y="1915310"/>
            <a:ext cx="18105148" cy="1661993"/>
          </a:xfrm>
          <a:prstGeom prst="rect">
            <a:avLst/>
          </a:prstGeom>
          <a:noFill/>
          <a:ln>
            <a:noFill/>
          </a:ln>
        </p:spPr>
        <p:txBody>
          <a:bodyPr spcFirstLastPara="1" wrap="square" lIns="0" tIns="0" rIns="0" bIns="0" anchor="t" anchorCtr="0">
            <a:spAutoFit/>
          </a:bodyPr>
          <a:lstStyle/>
          <a:p>
            <a:pPr marL="0" marR="0" lvl="0" indent="0" algn="l" rtl="0">
              <a:lnSpc>
                <a:spcPct val="319944"/>
              </a:lnSpc>
              <a:spcBef>
                <a:spcPts val="0"/>
              </a:spcBef>
              <a:spcAft>
                <a:spcPts val="0"/>
              </a:spcAft>
              <a:buNone/>
            </a:pPr>
            <a:endParaRPr sz="1800" b="0" i="0" u="none" strike="noStrike" cap="none" dirty="0">
              <a:solidFill>
                <a:schemeClr val="dk1"/>
              </a:solidFill>
              <a:latin typeface="Calibri"/>
              <a:ea typeface="Calibri"/>
              <a:cs typeface="Calibri"/>
              <a:sym typeface="Calibri"/>
            </a:endParaRPr>
          </a:p>
          <a:p>
            <a:pPr marL="380048" marR="0" lvl="1" indent="-190024" algn="l" rtl="0">
              <a:lnSpc>
                <a:spcPct val="140000"/>
              </a:lnSpc>
              <a:spcBef>
                <a:spcPts val="0"/>
              </a:spcBef>
              <a:spcAft>
                <a:spcPts val="0"/>
              </a:spcAft>
              <a:buNone/>
            </a:pPr>
            <a:endParaRPr sz="1800" b="0" i="0" u="none" strike="noStrike" cap="none" dirty="0">
              <a:solidFill>
                <a:schemeClr val="dk1"/>
              </a:solidFill>
              <a:latin typeface="Calibri"/>
              <a:ea typeface="Calibri"/>
              <a:cs typeface="Calibri"/>
              <a:sym typeface="Calibri"/>
            </a:endParaRPr>
          </a:p>
          <a:p>
            <a:pPr marL="380048" marR="0" lvl="1" indent="-190024" algn="l" rtl="0">
              <a:lnSpc>
                <a:spcPct val="140000"/>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30" name="Google Shape;130;p15"/>
          <p:cNvSpPr txBox="1"/>
          <p:nvPr/>
        </p:nvSpPr>
        <p:spPr>
          <a:xfrm>
            <a:off x="1385073" y="2289397"/>
            <a:ext cx="5489653" cy="629724"/>
          </a:xfrm>
          <a:prstGeom prst="rect">
            <a:avLst/>
          </a:prstGeom>
          <a:noFill/>
          <a:ln>
            <a:noFill/>
          </a:ln>
        </p:spPr>
        <p:txBody>
          <a:bodyPr spcFirstLastPara="1" wrap="square" lIns="0" tIns="0" rIns="0" bIns="0" anchor="t" anchorCtr="0">
            <a:spAutoFit/>
          </a:bodyPr>
          <a:lstStyle/>
          <a:p>
            <a:pPr marL="0" marR="0" lvl="0" indent="0" algn="l" rtl="0">
              <a:lnSpc>
                <a:spcPct val="140005"/>
              </a:lnSpc>
              <a:spcBef>
                <a:spcPts val="0"/>
              </a:spcBef>
              <a:spcAft>
                <a:spcPts val="0"/>
              </a:spcAft>
              <a:buNone/>
            </a:pPr>
            <a:r>
              <a:rPr lang="en-US" sz="3707" b="1" i="0" u="none" strike="noStrike" cap="none" dirty="0">
                <a:solidFill>
                  <a:srgbClr val="000000"/>
                </a:solidFill>
                <a:latin typeface="Arial"/>
                <a:ea typeface="Arial"/>
                <a:cs typeface="Arial"/>
                <a:sym typeface="Arial"/>
              </a:rPr>
              <a:t>ABSTRACT</a:t>
            </a:r>
            <a:endParaRPr dirty="0"/>
          </a:p>
        </p:txBody>
      </p:sp>
      <p:sp>
        <p:nvSpPr>
          <p:cNvPr id="2" name="TextBox 1">
            <a:extLst>
              <a:ext uri="{FF2B5EF4-FFF2-40B4-BE49-F238E27FC236}">
                <a16:creationId xmlns:a16="http://schemas.microsoft.com/office/drawing/2014/main" id="{2ECE4278-7FF1-1A42-E778-53A1ADF52C2A}"/>
              </a:ext>
            </a:extLst>
          </p:cNvPr>
          <p:cNvSpPr txBox="1"/>
          <p:nvPr/>
        </p:nvSpPr>
        <p:spPr>
          <a:xfrm>
            <a:off x="1423243" y="3145121"/>
            <a:ext cx="15382569" cy="5829481"/>
          </a:xfrm>
          <a:prstGeom prst="rect">
            <a:avLst/>
          </a:prstGeom>
          <a:noFill/>
        </p:spPr>
        <p:txBody>
          <a:bodyPr wrap="square" rtlCol="0">
            <a:spAutoFit/>
          </a:bodyPr>
          <a:lstStyle/>
          <a:p>
            <a:pPr>
              <a:lnSpc>
                <a:spcPct val="150000"/>
              </a:lnSpc>
            </a:pPr>
            <a:r>
              <a:rPr lang="en-GB" sz="2800" dirty="0" err="1"/>
              <a:t>SmartGIG</a:t>
            </a:r>
            <a:r>
              <a:rPr lang="en-GB" sz="2800" dirty="0"/>
              <a:t> is a resilient freelance marketplace designed to reduce systemic risk in digital work ecosystems. Traditional platforms rely heavily on reactive moderation and single-dimensional reputation systems, leading to disputes, fraud, burnout, and financial instability. </a:t>
            </a:r>
            <a:r>
              <a:rPr lang="en-GB" sz="2800" dirty="0" err="1"/>
              <a:t>SmartGIG</a:t>
            </a:r>
            <a:r>
              <a:rPr lang="en-GB" sz="2800" dirty="0"/>
              <a:t> introduces adaptive risk-mitigation mechanisms including escrow-backed milestone payments, 48-hour dispute resolution, device fingerprinting for ban-evasion detection, proof-of-work hiring trials, and multi-dimensional reputation scoring. By combining transparent workload tracking with secure communication infrastructure, the platform enhances trust, accountability, and fairness. </a:t>
            </a:r>
            <a:r>
              <a:rPr lang="en-GB" sz="2800" dirty="0" err="1"/>
              <a:t>SmartGIG</a:t>
            </a:r>
            <a:r>
              <a:rPr lang="en-GB" sz="2800" dirty="0"/>
              <a:t> redefines freelancing as a protected, measurable, and growth-oriented digital collaboration environment.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6"/>
          <p:cNvSpPr/>
          <p:nvPr/>
        </p:nvSpPr>
        <p:spPr>
          <a:xfrm>
            <a:off x="15265730" y="-432760"/>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40" name="Google Shape;140;p16"/>
          <p:cNvSpPr/>
          <p:nvPr/>
        </p:nvSpPr>
        <p:spPr>
          <a:xfrm>
            <a:off x="6610379" y="3945692"/>
            <a:ext cx="11955364" cy="4471369"/>
          </a:xfrm>
          <a:custGeom>
            <a:avLst/>
            <a:gdLst/>
            <a:ahLst/>
            <a:cxnLst/>
            <a:rect l="l" t="t" r="r" b="b"/>
            <a:pathLst>
              <a:path w="11955364" h="4471369" extrusionOk="0">
                <a:moveTo>
                  <a:pt x="0" y="0"/>
                </a:moveTo>
                <a:lnTo>
                  <a:pt x="11955365" y="0"/>
                </a:lnTo>
                <a:lnTo>
                  <a:pt x="11955365" y="4471369"/>
                </a:lnTo>
                <a:lnTo>
                  <a:pt x="0" y="4471369"/>
                </a:lnTo>
                <a:lnTo>
                  <a:pt x="0" y="0"/>
                </a:lnTo>
                <a:close/>
              </a:path>
            </a:pathLst>
          </a:custGeom>
          <a:blipFill rotWithShape="1">
            <a:blip r:embed="rId4">
              <a:alphaModFix amt="30000"/>
            </a:blip>
            <a:stretch>
              <a:fillRect t="-83947" b="-83418"/>
            </a:stretch>
          </a:blipFill>
          <a:ln>
            <a:noFill/>
          </a:ln>
        </p:spPr>
      </p:sp>
      <p:sp>
        <p:nvSpPr>
          <p:cNvPr id="141" name="Google Shape;141;p16"/>
          <p:cNvSpPr txBox="1"/>
          <p:nvPr/>
        </p:nvSpPr>
        <p:spPr>
          <a:xfrm>
            <a:off x="6044498" y="268704"/>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dirty="0">
                <a:solidFill>
                  <a:srgbClr val="1F497D"/>
                </a:solidFill>
                <a:latin typeface="Garamond"/>
                <a:ea typeface="Garamond"/>
                <a:cs typeface="Garamond"/>
                <a:sym typeface="Garamond"/>
              </a:rPr>
              <a:t>SATWA 202</a:t>
            </a:r>
            <a:r>
              <a:rPr lang="en-US" sz="7499" b="1" dirty="0">
                <a:solidFill>
                  <a:srgbClr val="1F497D"/>
                </a:solidFill>
                <a:latin typeface="Garamond"/>
                <a:ea typeface="Garamond"/>
                <a:cs typeface="Garamond"/>
                <a:sym typeface="Garamond"/>
              </a:rPr>
              <a:t>6</a:t>
            </a:r>
            <a:endParaRPr dirty="0"/>
          </a:p>
        </p:txBody>
      </p:sp>
      <p:sp>
        <p:nvSpPr>
          <p:cNvPr id="142" name="Google Shape;142;p16"/>
          <p:cNvSpPr txBox="1"/>
          <p:nvPr/>
        </p:nvSpPr>
        <p:spPr>
          <a:xfrm>
            <a:off x="2285124" y="1345029"/>
            <a:ext cx="13717800" cy="11151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a:solidFill>
                  <a:srgbClr val="000000"/>
                </a:solidFill>
                <a:latin typeface="Arial"/>
                <a:ea typeface="Arial"/>
                <a:cs typeface="Arial"/>
                <a:sym typeface="Arial"/>
              </a:rPr>
              <a:t>TITLE</a:t>
            </a:r>
            <a:r>
              <a:rPr lang="en-US" sz="3291" b="1" i="0" u="none" strike="noStrike" cap="none">
                <a:solidFill>
                  <a:srgbClr val="000000"/>
                </a:solidFill>
                <a:latin typeface="Arial"/>
                <a:ea typeface="Arial"/>
                <a:cs typeface="Arial"/>
                <a:sym typeface="Arial"/>
              </a:rPr>
              <a:t> : </a:t>
            </a:r>
            <a:r>
              <a:rPr lang="en-US" sz="3291" i="1"/>
              <a:t>Engineering Resilience - Designing for Uncertainty</a:t>
            </a:r>
            <a:endParaRPr i="1"/>
          </a:p>
          <a:p>
            <a:pPr marL="0" marR="0" lvl="0" indent="0" algn="ctr" rtl="0">
              <a:lnSpc>
                <a:spcPct val="120018"/>
              </a:lnSpc>
              <a:spcBef>
                <a:spcPts val="0"/>
              </a:spcBef>
              <a:spcAft>
                <a:spcPts val="0"/>
              </a:spcAft>
              <a:buNone/>
            </a:pPr>
            <a:endParaRPr sz="3291" b="0" i="0" u="none" strike="noStrike" cap="none">
              <a:solidFill>
                <a:srgbClr val="000000"/>
              </a:solidFill>
              <a:latin typeface="Arial"/>
              <a:ea typeface="Arial"/>
              <a:cs typeface="Arial"/>
              <a:sym typeface="Arial"/>
            </a:endParaRPr>
          </a:p>
        </p:txBody>
      </p:sp>
      <p:sp>
        <p:nvSpPr>
          <p:cNvPr id="143" name="Google Shape;143;p16"/>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144" name="Google Shape;144;p16"/>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a:t>
            </a:r>
            <a:r>
              <a:rPr lang="en-US" sz="1800" b="0" i="0" u="none" strike="noStrike" cap="none">
                <a:solidFill>
                  <a:srgbClr val="FFFFFF"/>
                </a:solidFill>
                <a:latin typeface="Oswald"/>
                <a:ea typeface="Oswald"/>
                <a:cs typeface="Oswald"/>
                <a:sym typeface="Oswald"/>
              </a:rPr>
              <a:t> - Template</a:t>
            </a:r>
            <a:endParaRPr/>
          </a:p>
        </p:txBody>
      </p:sp>
      <p:grpSp>
        <p:nvGrpSpPr>
          <p:cNvPr id="145" name="Google Shape;145;p16"/>
          <p:cNvGrpSpPr/>
          <p:nvPr/>
        </p:nvGrpSpPr>
        <p:grpSpPr>
          <a:xfrm>
            <a:off x="1013795" y="2100089"/>
            <a:ext cx="16418799" cy="7831769"/>
            <a:chOff x="0" y="-1085619"/>
            <a:chExt cx="24140198" cy="10442365"/>
          </a:xfrm>
        </p:grpSpPr>
        <p:sp>
          <p:nvSpPr>
            <p:cNvPr id="146" name="Google Shape;146;p16"/>
            <p:cNvSpPr txBox="1"/>
            <p:nvPr/>
          </p:nvSpPr>
          <p:spPr>
            <a:xfrm>
              <a:off x="0" y="-553665"/>
              <a:ext cx="24140198" cy="9910411"/>
            </a:xfrm>
            <a:prstGeom prst="rect">
              <a:avLst/>
            </a:prstGeom>
            <a:noFill/>
            <a:ln>
              <a:noFill/>
            </a:ln>
          </p:spPr>
          <p:txBody>
            <a:bodyPr spcFirstLastPara="1" wrap="square" lIns="0" tIns="0" rIns="0" bIns="0" anchor="t" anchorCtr="0">
              <a:spAutoFit/>
            </a:bodyPr>
            <a:lstStyle/>
            <a:p>
              <a:pPr marL="380048" marR="0" lvl="1" indent="-190024" algn="l" rtl="0">
                <a:lnSpc>
                  <a:spcPct val="150000"/>
                </a:lnSpc>
                <a:spcBef>
                  <a:spcPts val="0"/>
                </a:spcBef>
                <a:spcAft>
                  <a:spcPts val="0"/>
                </a:spcAft>
                <a:buNone/>
              </a:pPr>
              <a:endParaRPr sz="1800" b="0" i="0" u="none" strike="noStrike" cap="none" dirty="0">
                <a:solidFill>
                  <a:schemeClr val="dk1"/>
                </a:solidFill>
                <a:latin typeface="Calibri"/>
                <a:ea typeface="Calibri"/>
                <a:cs typeface="Calibri"/>
                <a:sym typeface="Calibri"/>
              </a:endParaRPr>
            </a:p>
            <a:p>
              <a:pPr>
                <a:lnSpc>
                  <a:spcPct val="150000"/>
                </a:lnSpc>
              </a:pPr>
              <a:r>
                <a:rPr lang="en-GB" sz="2500" dirty="0" err="1"/>
                <a:t>SmartGIG</a:t>
              </a:r>
              <a:r>
                <a:rPr lang="en-GB" sz="2500" dirty="0"/>
                <a:t> is a </a:t>
              </a:r>
              <a:r>
                <a:rPr lang="en-GB" sz="2500" b="1" dirty="0"/>
                <a:t>human-centric, risk-mitigated freelance platform</a:t>
              </a:r>
              <a:r>
                <a:rPr lang="en-GB" sz="2500" dirty="0"/>
                <a:t> designed to reduce fraud, disputes, burnout, and hiring uncertainty through structured safeguards.</a:t>
              </a:r>
              <a:r>
                <a:rPr lang="en-GB" sz="2800" dirty="0"/>
                <a:t> Unlike traditional platforms that focus primarily on transaction facilitation, </a:t>
              </a:r>
              <a:r>
                <a:rPr lang="en-GB" sz="2800" dirty="0" err="1"/>
                <a:t>SmartGIG</a:t>
              </a:r>
              <a:r>
                <a:rPr lang="en-GB" sz="2800" dirty="0"/>
                <a:t> integrates structured financial protection (escrow with rapid dispute resolution), workload transparency controls to prevent freelancer exploitation, proof-of-work hiring mechanisms to validate skills before long-term engagement, and multi-dimensional trust scoring that evaluates reliability beyond simple star ratings.</a:t>
              </a:r>
              <a:endParaRPr lang="en-GB" sz="2500" dirty="0"/>
            </a:p>
            <a:p>
              <a:pPr>
                <a:lnSpc>
                  <a:spcPct val="150000"/>
                </a:lnSpc>
              </a:pPr>
              <a:r>
                <a:rPr lang="en-GB" sz="2500" dirty="0"/>
                <a:t>It integrates:</a:t>
              </a:r>
            </a:p>
            <a:p>
              <a:pPr marL="342900" indent="-342900">
                <a:lnSpc>
                  <a:spcPct val="150000"/>
                </a:lnSpc>
                <a:buFont typeface="Arial" panose="020B0604020202020204" pitchFamily="34" charset="0"/>
                <a:buChar char="•"/>
              </a:pPr>
              <a:r>
                <a:rPr lang="en-GB" sz="2500" dirty="0"/>
                <a:t>Client-posted jobs (like Upwork)</a:t>
              </a:r>
            </a:p>
            <a:p>
              <a:pPr marL="342900" indent="-342900">
                <a:lnSpc>
                  <a:spcPct val="150000"/>
                </a:lnSpc>
                <a:buFont typeface="Arial" panose="020B0604020202020204" pitchFamily="34" charset="0"/>
                <a:buChar char="•"/>
              </a:pPr>
              <a:r>
                <a:rPr lang="en-GB" sz="2500" dirty="0"/>
                <a:t>Freelancer-posted opportunities (like Fiverr)</a:t>
              </a:r>
            </a:p>
            <a:p>
              <a:pPr marL="342900" indent="-342900">
                <a:lnSpc>
                  <a:spcPct val="150000"/>
                </a:lnSpc>
                <a:buFont typeface="Arial" panose="020B0604020202020204" pitchFamily="34" charset="0"/>
                <a:buChar char="•"/>
              </a:pPr>
              <a:r>
                <a:rPr lang="en-GB" sz="2500" dirty="0"/>
                <a:t>Adaptive security and transparency mechanisms</a:t>
              </a:r>
            </a:p>
            <a:p>
              <a:pPr marL="342900" indent="-342900">
                <a:lnSpc>
                  <a:spcPct val="150000"/>
                </a:lnSpc>
                <a:buFont typeface="Arial" panose="020B0604020202020204" pitchFamily="34" charset="0"/>
                <a:buChar char="•"/>
              </a:pPr>
              <a:endParaRPr lang="en-GB" sz="2500" dirty="0"/>
            </a:p>
            <a:p>
              <a:pPr>
                <a:lnSpc>
                  <a:spcPct val="150000"/>
                </a:lnSpc>
              </a:pPr>
              <a:endParaRPr lang="en-GB" dirty="0"/>
            </a:p>
          </p:txBody>
        </p:sp>
        <p:sp>
          <p:nvSpPr>
            <p:cNvPr id="147" name="Google Shape;147;p16"/>
            <p:cNvSpPr txBox="1"/>
            <p:nvPr/>
          </p:nvSpPr>
          <p:spPr>
            <a:xfrm>
              <a:off x="0" y="-1085619"/>
              <a:ext cx="9326383" cy="1064907"/>
            </a:xfrm>
            <a:prstGeom prst="rect">
              <a:avLst/>
            </a:prstGeom>
            <a:noFill/>
            <a:ln>
              <a:noFill/>
            </a:ln>
          </p:spPr>
          <p:txBody>
            <a:bodyPr spcFirstLastPara="1" wrap="square" lIns="0" tIns="0" rIns="0" bIns="0" anchor="t" anchorCtr="0">
              <a:spAutoFit/>
            </a:bodyPr>
            <a:lstStyle/>
            <a:p>
              <a:pPr marL="0" marR="0" lvl="0" indent="0" rtl="0">
                <a:lnSpc>
                  <a:spcPct val="140005"/>
                </a:lnSpc>
                <a:spcBef>
                  <a:spcPts val="0"/>
                </a:spcBef>
                <a:spcAft>
                  <a:spcPts val="0"/>
                </a:spcAft>
                <a:buNone/>
              </a:pPr>
              <a:r>
                <a:rPr lang="en-US" sz="3707" b="1" i="0" u="none" strike="noStrike" cap="none" dirty="0">
                  <a:solidFill>
                    <a:srgbClr val="000000"/>
                  </a:solidFill>
                  <a:latin typeface="Arial"/>
                  <a:ea typeface="Arial"/>
                  <a:cs typeface="Arial"/>
                  <a:sym typeface="Arial"/>
                </a:rPr>
                <a:t>PROPOSED SOLUTION</a:t>
              </a: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2FCC41D-00B1-31EA-0BFB-9EE293765E50}"/>
            </a:ext>
          </a:extLst>
        </p:cNvPr>
        <p:cNvGrpSpPr/>
        <p:nvPr/>
      </p:nvGrpSpPr>
      <p:grpSpPr>
        <a:xfrm>
          <a:off x="0" y="0"/>
          <a:ext cx="0" cy="0"/>
          <a:chOff x="0" y="0"/>
          <a:chExt cx="0" cy="0"/>
        </a:xfrm>
      </p:grpSpPr>
      <p:sp>
        <p:nvSpPr>
          <p:cNvPr id="139" name="Google Shape;139;p16">
            <a:extLst>
              <a:ext uri="{FF2B5EF4-FFF2-40B4-BE49-F238E27FC236}">
                <a16:creationId xmlns:a16="http://schemas.microsoft.com/office/drawing/2014/main" id="{AAED3BFE-7333-B0E5-62F8-45CED9B61B94}"/>
              </a:ext>
            </a:extLst>
          </p:cNvPr>
          <p:cNvSpPr/>
          <p:nvPr/>
        </p:nvSpPr>
        <p:spPr>
          <a:xfrm>
            <a:off x="15265730" y="-418016"/>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40" name="Google Shape;140;p16">
            <a:extLst>
              <a:ext uri="{FF2B5EF4-FFF2-40B4-BE49-F238E27FC236}">
                <a16:creationId xmlns:a16="http://schemas.microsoft.com/office/drawing/2014/main" id="{F96D810D-84E5-45B0-D6CB-6C24649689FF}"/>
              </a:ext>
            </a:extLst>
          </p:cNvPr>
          <p:cNvSpPr/>
          <p:nvPr/>
        </p:nvSpPr>
        <p:spPr>
          <a:xfrm>
            <a:off x="6610379" y="3945692"/>
            <a:ext cx="11955364" cy="4471369"/>
          </a:xfrm>
          <a:custGeom>
            <a:avLst/>
            <a:gdLst/>
            <a:ahLst/>
            <a:cxnLst/>
            <a:rect l="l" t="t" r="r" b="b"/>
            <a:pathLst>
              <a:path w="11955364" h="4471369" extrusionOk="0">
                <a:moveTo>
                  <a:pt x="0" y="0"/>
                </a:moveTo>
                <a:lnTo>
                  <a:pt x="11955365" y="0"/>
                </a:lnTo>
                <a:lnTo>
                  <a:pt x="11955365" y="4471369"/>
                </a:lnTo>
                <a:lnTo>
                  <a:pt x="0" y="4471369"/>
                </a:lnTo>
                <a:lnTo>
                  <a:pt x="0" y="0"/>
                </a:lnTo>
                <a:close/>
              </a:path>
            </a:pathLst>
          </a:custGeom>
          <a:blipFill rotWithShape="1">
            <a:blip r:embed="rId4">
              <a:alphaModFix amt="30000"/>
            </a:blip>
            <a:stretch>
              <a:fillRect t="-83947" b="-83418"/>
            </a:stretch>
          </a:blipFill>
          <a:ln>
            <a:noFill/>
          </a:ln>
        </p:spPr>
      </p:sp>
      <p:sp>
        <p:nvSpPr>
          <p:cNvPr id="141" name="Google Shape;141;p16">
            <a:extLst>
              <a:ext uri="{FF2B5EF4-FFF2-40B4-BE49-F238E27FC236}">
                <a16:creationId xmlns:a16="http://schemas.microsoft.com/office/drawing/2014/main" id="{F6859915-EE8A-EA44-E235-8C994B8D97AF}"/>
              </a:ext>
            </a:extLst>
          </p:cNvPr>
          <p:cNvSpPr txBox="1"/>
          <p:nvPr/>
        </p:nvSpPr>
        <p:spPr>
          <a:xfrm>
            <a:off x="6044498" y="283448"/>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dirty="0">
                <a:solidFill>
                  <a:srgbClr val="1F497D"/>
                </a:solidFill>
                <a:latin typeface="Garamond"/>
                <a:ea typeface="Garamond"/>
                <a:cs typeface="Garamond"/>
                <a:sym typeface="Garamond"/>
              </a:rPr>
              <a:t>SATWA 202</a:t>
            </a:r>
            <a:r>
              <a:rPr lang="en-US" sz="7499" b="1" dirty="0">
                <a:solidFill>
                  <a:srgbClr val="1F497D"/>
                </a:solidFill>
                <a:latin typeface="Garamond"/>
                <a:ea typeface="Garamond"/>
                <a:cs typeface="Garamond"/>
                <a:sym typeface="Garamond"/>
              </a:rPr>
              <a:t>6</a:t>
            </a:r>
            <a:endParaRPr dirty="0"/>
          </a:p>
        </p:txBody>
      </p:sp>
      <p:sp>
        <p:nvSpPr>
          <p:cNvPr id="142" name="Google Shape;142;p16">
            <a:extLst>
              <a:ext uri="{FF2B5EF4-FFF2-40B4-BE49-F238E27FC236}">
                <a16:creationId xmlns:a16="http://schemas.microsoft.com/office/drawing/2014/main" id="{80308191-CA2E-C14E-62ED-3419A932BFA6}"/>
              </a:ext>
            </a:extLst>
          </p:cNvPr>
          <p:cNvSpPr txBox="1"/>
          <p:nvPr/>
        </p:nvSpPr>
        <p:spPr>
          <a:xfrm>
            <a:off x="2285124" y="1359773"/>
            <a:ext cx="13717800" cy="11151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dirty="0">
                <a:solidFill>
                  <a:srgbClr val="000000"/>
                </a:solidFill>
                <a:latin typeface="Arial"/>
                <a:ea typeface="Arial"/>
                <a:cs typeface="Arial"/>
                <a:sym typeface="Arial"/>
              </a:rPr>
              <a:t>TITLE</a:t>
            </a:r>
            <a:r>
              <a:rPr lang="en-US" sz="3291" b="1" i="0" u="none" strike="noStrike" cap="none" dirty="0">
                <a:solidFill>
                  <a:srgbClr val="000000"/>
                </a:solidFill>
                <a:latin typeface="Arial"/>
                <a:ea typeface="Arial"/>
                <a:cs typeface="Arial"/>
                <a:sym typeface="Arial"/>
              </a:rPr>
              <a:t> : </a:t>
            </a:r>
            <a:r>
              <a:rPr lang="en-US" sz="3291" i="1" dirty="0"/>
              <a:t>Engineering Resilience - Designing for Uncertainty</a:t>
            </a:r>
            <a:endParaRPr i="1" dirty="0"/>
          </a:p>
          <a:p>
            <a:pPr marL="0" marR="0" lvl="0" indent="0" algn="ctr" rtl="0">
              <a:lnSpc>
                <a:spcPct val="120018"/>
              </a:lnSpc>
              <a:spcBef>
                <a:spcPts val="0"/>
              </a:spcBef>
              <a:spcAft>
                <a:spcPts val="0"/>
              </a:spcAft>
              <a:buNone/>
            </a:pPr>
            <a:endParaRPr sz="3291" b="0" i="0" u="none" strike="noStrike" cap="none" dirty="0">
              <a:solidFill>
                <a:srgbClr val="000000"/>
              </a:solidFill>
              <a:latin typeface="Arial"/>
              <a:ea typeface="Arial"/>
              <a:cs typeface="Arial"/>
              <a:sym typeface="Arial"/>
            </a:endParaRPr>
          </a:p>
        </p:txBody>
      </p:sp>
      <p:sp>
        <p:nvSpPr>
          <p:cNvPr id="143" name="Google Shape;143;p16">
            <a:extLst>
              <a:ext uri="{FF2B5EF4-FFF2-40B4-BE49-F238E27FC236}">
                <a16:creationId xmlns:a16="http://schemas.microsoft.com/office/drawing/2014/main" id="{55422736-2AA0-B04A-807F-C45C70FF1AE3}"/>
              </a:ext>
            </a:extLst>
          </p:cNvPr>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144" name="Google Shape;144;p16">
            <a:extLst>
              <a:ext uri="{FF2B5EF4-FFF2-40B4-BE49-F238E27FC236}">
                <a16:creationId xmlns:a16="http://schemas.microsoft.com/office/drawing/2014/main" id="{E22576DB-11AB-14A4-40CA-9484216BE534}"/>
              </a:ext>
            </a:extLst>
          </p:cNvPr>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a:t>
            </a:r>
            <a:r>
              <a:rPr lang="en-US" sz="1800" b="0" i="0" u="none" strike="noStrike" cap="none">
                <a:solidFill>
                  <a:srgbClr val="FFFFFF"/>
                </a:solidFill>
                <a:latin typeface="Oswald"/>
                <a:ea typeface="Oswald"/>
                <a:cs typeface="Oswald"/>
                <a:sym typeface="Oswald"/>
              </a:rPr>
              <a:t> - Template</a:t>
            </a:r>
            <a:endParaRPr/>
          </a:p>
        </p:txBody>
      </p:sp>
      <p:grpSp>
        <p:nvGrpSpPr>
          <p:cNvPr id="5" name="Group 4">
            <a:extLst>
              <a:ext uri="{FF2B5EF4-FFF2-40B4-BE49-F238E27FC236}">
                <a16:creationId xmlns:a16="http://schemas.microsoft.com/office/drawing/2014/main" id="{37B8390E-2D09-60A0-D5D9-949CF9743E4B}"/>
              </a:ext>
            </a:extLst>
          </p:cNvPr>
          <p:cNvGrpSpPr/>
          <p:nvPr/>
        </p:nvGrpSpPr>
        <p:grpSpPr>
          <a:xfrm>
            <a:off x="1228762" y="2579519"/>
            <a:ext cx="15830474" cy="7383022"/>
            <a:chOff x="868682" y="2279096"/>
            <a:chExt cx="15830474" cy="7383022"/>
          </a:xfrm>
        </p:grpSpPr>
        <p:grpSp>
          <p:nvGrpSpPr>
            <p:cNvPr id="145" name="Google Shape;145;p16">
              <a:extLst>
                <a:ext uri="{FF2B5EF4-FFF2-40B4-BE49-F238E27FC236}">
                  <a16:creationId xmlns:a16="http://schemas.microsoft.com/office/drawing/2014/main" id="{3E54FCAE-EE9A-684D-A8C5-2DF36316805D}"/>
                </a:ext>
              </a:extLst>
            </p:cNvPr>
            <p:cNvGrpSpPr/>
            <p:nvPr/>
          </p:nvGrpSpPr>
          <p:grpSpPr>
            <a:xfrm>
              <a:off x="868682" y="2279096"/>
              <a:ext cx="8393306" cy="6832640"/>
              <a:chOff x="-213358" y="-846941"/>
              <a:chExt cx="14268032" cy="9110190"/>
            </a:xfrm>
          </p:grpSpPr>
          <p:sp>
            <p:nvSpPr>
              <p:cNvPr id="146" name="Google Shape;146;p16">
                <a:extLst>
                  <a:ext uri="{FF2B5EF4-FFF2-40B4-BE49-F238E27FC236}">
                    <a16:creationId xmlns:a16="http://schemas.microsoft.com/office/drawing/2014/main" id="{8EE7B792-8C1C-4B49-719D-513FBDCCFF76}"/>
                  </a:ext>
                </a:extLst>
              </p:cNvPr>
              <p:cNvSpPr txBox="1"/>
              <p:nvPr/>
            </p:nvSpPr>
            <p:spPr>
              <a:xfrm>
                <a:off x="738390" y="-846941"/>
                <a:ext cx="13316284" cy="9110190"/>
              </a:xfrm>
              <a:prstGeom prst="rect">
                <a:avLst/>
              </a:prstGeom>
              <a:noFill/>
              <a:ln>
                <a:noFill/>
              </a:ln>
            </p:spPr>
            <p:txBody>
              <a:bodyPr spcFirstLastPara="1" wrap="square" lIns="0" tIns="0" rIns="0" bIns="0" anchor="t" anchorCtr="0">
                <a:spAutoFit/>
              </a:bodyPr>
              <a:lstStyle/>
              <a:p>
                <a:pPr marL="380048" marR="0" lvl="1" indent="-190024" algn="l" rtl="0">
                  <a:lnSpc>
                    <a:spcPct val="150000"/>
                  </a:lnSpc>
                  <a:spcBef>
                    <a:spcPts val="0"/>
                  </a:spcBef>
                  <a:spcAft>
                    <a:spcPts val="0"/>
                  </a:spcAft>
                  <a:buNone/>
                </a:pPr>
                <a:endParaRPr lang="en-IN" sz="2400" b="0" i="0" u="none" strike="noStrike" cap="none" dirty="0">
                  <a:solidFill>
                    <a:schemeClr val="dk1"/>
                  </a:solidFill>
                  <a:latin typeface="Calibri"/>
                  <a:ea typeface="Calibri"/>
                  <a:cs typeface="Calibri"/>
                  <a:sym typeface="Calibri"/>
                </a:endParaRPr>
              </a:p>
              <a:p>
                <a:pPr>
                  <a:lnSpc>
                    <a:spcPct val="150000"/>
                  </a:lnSpc>
                </a:pPr>
                <a:r>
                  <a:rPr lang="en-IN" sz="2800" b="1" dirty="0"/>
                  <a:t>Financial Resilience</a:t>
                </a:r>
              </a:p>
              <a:p>
                <a:pPr marL="342900" indent="-342900">
                  <a:lnSpc>
                    <a:spcPct val="150000"/>
                  </a:lnSpc>
                  <a:buFont typeface="Arial" panose="020B0604020202020204" pitchFamily="34" charset="0"/>
                  <a:buChar char="•"/>
                </a:pPr>
                <a:r>
                  <a:rPr lang="en-IN" sz="2400" dirty="0"/>
                  <a:t>Escrow-based milestone payments</a:t>
                </a:r>
              </a:p>
              <a:p>
                <a:pPr marL="342900" indent="-342900">
                  <a:lnSpc>
                    <a:spcPct val="150000"/>
                  </a:lnSpc>
                  <a:buFont typeface="Arial" panose="020B0604020202020204" pitchFamily="34" charset="0"/>
                  <a:buChar char="•"/>
                </a:pPr>
                <a:r>
                  <a:rPr lang="en-IN" sz="2400" dirty="0"/>
                  <a:t>Automated release on approval</a:t>
                </a:r>
              </a:p>
              <a:p>
                <a:pPr marL="342900" indent="-342900">
                  <a:lnSpc>
                    <a:spcPct val="150000"/>
                  </a:lnSpc>
                  <a:buFont typeface="Arial" panose="020B0604020202020204" pitchFamily="34" charset="0"/>
                  <a:buChar char="•"/>
                </a:pPr>
                <a:r>
                  <a:rPr lang="en-IN" sz="2400" dirty="0"/>
                  <a:t>48-hour structured dispute resolution</a:t>
                </a:r>
              </a:p>
              <a:p>
                <a:pPr>
                  <a:lnSpc>
                    <a:spcPct val="150000"/>
                  </a:lnSpc>
                </a:pPr>
                <a:endParaRPr lang="en-IN" sz="2400" dirty="0"/>
              </a:p>
              <a:p>
                <a:pPr>
                  <a:lnSpc>
                    <a:spcPct val="150000"/>
                  </a:lnSpc>
                </a:pPr>
                <a:r>
                  <a:rPr lang="en-IN" sz="2800" b="1" dirty="0"/>
                  <a:t>Risk Mitigation Layer</a:t>
                </a:r>
              </a:p>
              <a:p>
                <a:pPr marL="342900" indent="-342900">
                  <a:lnSpc>
                    <a:spcPct val="150000"/>
                  </a:lnSpc>
                  <a:buFont typeface="Arial" panose="020B0604020202020204" pitchFamily="34" charset="0"/>
                  <a:buChar char="•"/>
                </a:pPr>
                <a:r>
                  <a:rPr lang="en-IN" sz="2400" dirty="0"/>
                  <a:t>Device fingerprinting (ban evasion detection)</a:t>
                </a:r>
              </a:p>
              <a:p>
                <a:pPr marL="342900" indent="-342900">
                  <a:lnSpc>
                    <a:spcPct val="150000"/>
                  </a:lnSpc>
                  <a:buFont typeface="Arial" panose="020B0604020202020204" pitchFamily="34" charset="0"/>
                  <a:buChar char="•"/>
                </a:pPr>
                <a:r>
                  <a:rPr lang="en-IN" sz="2400" dirty="0"/>
                  <a:t>Multi-layer violation tracking (transparent strike system)</a:t>
                </a:r>
              </a:p>
              <a:p>
                <a:pPr marL="342900" indent="-342900">
                  <a:lnSpc>
                    <a:spcPct val="150000"/>
                  </a:lnSpc>
                  <a:buFont typeface="Arial" panose="020B0604020202020204" pitchFamily="34" charset="0"/>
                  <a:buChar char="•"/>
                </a:pPr>
                <a:r>
                  <a:rPr lang="en-IN" sz="2400" dirty="0" err="1"/>
                  <a:t>Behavioral</a:t>
                </a:r>
                <a:r>
                  <a:rPr lang="en-IN" sz="2400" dirty="0"/>
                  <a:t> monitoring for fraud detection</a:t>
                </a:r>
              </a:p>
              <a:p>
                <a:pPr>
                  <a:lnSpc>
                    <a:spcPct val="150000"/>
                  </a:lnSpc>
                </a:pPr>
                <a:endParaRPr lang="en-GB" sz="2400" dirty="0"/>
              </a:p>
              <a:p>
                <a:pPr>
                  <a:lnSpc>
                    <a:spcPct val="150000"/>
                  </a:lnSpc>
                </a:pPr>
                <a:endParaRPr lang="en-GB" sz="2400" dirty="0"/>
              </a:p>
            </p:txBody>
          </p:sp>
          <p:sp>
            <p:nvSpPr>
              <p:cNvPr id="147" name="Google Shape;147;p16">
                <a:extLst>
                  <a:ext uri="{FF2B5EF4-FFF2-40B4-BE49-F238E27FC236}">
                    <a16:creationId xmlns:a16="http://schemas.microsoft.com/office/drawing/2014/main" id="{E6D8A97C-0398-2336-4184-D298CEA456DE}"/>
                  </a:ext>
                </a:extLst>
              </p:cNvPr>
              <p:cNvSpPr txBox="1"/>
              <p:nvPr/>
            </p:nvSpPr>
            <p:spPr>
              <a:xfrm>
                <a:off x="-213358" y="-375005"/>
                <a:ext cx="9326383" cy="402162"/>
              </a:xfrm>
              <a:prstGeom prst="rect">
                <a:avLst/>
              </a:prstGeom>
              <a:noFill/>
              <a:ln>
                <a:noFill/>
              </a:ln>
            </p:spPr>
            <p:txBody>
              <a:bodyPr spcFirstLastPara="1" wrap="square" lIns="0" tIns="0" rIns="0" bIns="0" anchor="t" anchorCtr="0">
                <a:spAutoFit/>
              </a:bodyPr>
              <a:lstStyle/>
              <a:p>
                <a:pPr marL="0" marR="0" lvl="0" indent="0" rtl="0">
                  <a:lnSpc>
                    <a:spcPct val="140005"/>
                  </a:lnSpc>
                  <a:spcBef>
                    <a:spcPts val="0"/>
                  </a:spcBef>
                  <a:spcAft>
                    <a:spcPts val="0"/>
                  </a:spcAft>
                  <a:buNone/>
                </a:pPr>
                <a:endParaRPr dirty="0"/>
              </a:p>
            </p:txBody>
          </p:sp>
        </p:grpSp>
        <p:sp>
          <p:nvSpPr>
            <p:cNvPr id="2" name="TextBox 1">
              <a:extLst>
                <a:ext uri="{FF2B5EF4-FFF2-40B4-BE49-F238E27FC236}">
                  <a16:creationId xmlns:a16="http://schemas.microsoft.com/office/drawing/2014/main" id="{39ADA021-7FD9-26A9-F56F-F6DB561EABF9}"/>
                </a:ext>
              </a:extLst>
            </p:cNvPr>
            <p:cNvSpPr txBox="1"/>
            <p:nvPr/>
          </p:nvSpPr>
          <p:spPr>
            <a:xfrm>
              <a:off x="9542208" y="2713293"/>
              <a:ext cx="7156948" cy="6948825"/>
            </a:xfrm>
            <a:prstGeom prst="rect">
              <a:avLst/>
            </a:prstGeom>
            <a:noFill/>
          </p:spPr>
          <p:txBody>
            <a:bodyPr wrap="square" rtlCol="0">
              <a:spAutoFit/>
            </a:bodyPr>
            <a:lstStyle/>
            <a:p>
              <a:pPr>
                <a:lnSpc>
                  <a:spcPct val="150000"/>
                </a:lnSpc>
              </a:pPr>
              <a:r>
                <a:rPr lang="en-IN" sz="2800" b="1" dirty="0"/>
                <a:t>Communication Infrastructure</a:t>
              </a:r>
            </a:p>
            <a:p>
              <a:pPr marL="342900" indent="-342900">
                <a:lnSpc>
                  <a:spcPct val="150000"/>
                </a:lnSpc>
                <a:buFont typeface="Arial" panose="020B0604020202020204" pitchFamily="34" charset="0"/>
                <a:buChar char="•"/>
              </a:pPr>
              <a:r>
                <a:rPr lang="en-IN" sz="2400" dirty="0"/>
                <a:t>Real-time messaging	</a:t>
              </a:r>
            </a:p>
            <a:p>
              <a:pPr marL="342900" indent="-342900">
                <a:lnSpc>
                  <a:spcPct val="150000"/>
                </a:lnSpc>
                <a:buFont typeface="Arial" panose="020B0604020202020204" pitchFamily="34" charset="0"/>
                <a:buChar char="•"/>
              </a:pPr>
              <a:r>
                <a:rPr lang="en-IN" sz="2400" dirty="0"/>
                <a:t>Secure audio/video calls (WebRTC-based)</a:t>
              </a:r>
            </a:p>
            <a:p>
              <a:pPr marL="342900" indent="-342900">
                <a:lnSpc>
                  <a:spcPct val="150000"/>
                </a:lnSpc>
                <a:buFont typeface="Arial" panose="020B0604020202020204" pitchFamily="34" charset="0"/>
                <a:buChar char="•"/>
              </a:pPr>
              <a:r>
                <a:rPr lang="en-IN" sz="2400" dirty="0"/>
                <a:t>NDA support &amp; milestone documentation</a:t>
              </a:r>
            </a:p>
            <a:p>
              <a:pPr marL="457200" indent="-457200">
                <a:lnSpc>
                  <a:spcPct val="150000"/>
                </a:lnSpc>
                <a:buFont typeface="Arial" panose="020B0604020202020204" pitchFamily="34" charset="0"/>
                <a:buChar char="•"/>
              </a:pPr>
              <a:endParaRPr lang="en-IN" sz="2800" b="1" dirty="0"/>
            </a:p>
            <a:p>
              <a:pPr>
                <a:lnSpc>
                  <a:spcPct val="150000"/>
                </a:lnSpc>
              </a:pPr>
              <a:r>
                <a:rPr lang="en-IN" sz="2800" b="1" dirty="0"/>
                <a:t>Trust &amp; Transparency</a:t>
              </a:r>
            </a:p>
            <a:p>
              <a:pPr marL="342900" indent="-342900">
                <a:lnSpc>
                  <a:spcPct val="150000"/>
                </a:lnSpc>
                <a:buFont typeface="Arial" panose="020B0604020202020204" pitchFamily="34" charset="0"/>
                <a:buChar char="•"/>
              </a:pPr>
              <a:r>
                <a:rPr lang="en-IN" sz="2400" dirty="0"/>
                <a:t>Multi-dimensional reputation (delivery, communication, fairness)</a:t>
              </a:r>
            </a:p>
            <a:p>
              <a:pPr marL="342900" indent="-342900">
                <a:lnSpc>
                  <a:spcPct val="150000"/>
                </a:lnSpc>
                <a:buFont typeface="Arial" panose="020B0604020202020204" pitchFamily="34" charset="0"/>
                <a:buChar char="•"/>
              </a:pPr>
              <a:r>
                <a:rPr lang="en-IN" sz="2400" dirty="0"/>
                <a:t>Visible freelancer workload capacity</a:t>
              </a:r>
            </a:p>
            <a:p>
              <a:pPr marL="342900" indent="-342900">
                <a:lnSpc>
                  <a:spcPct val="150000"/>
                </a:lnSpc>
                <a:buFont typeface="Arial" panose="020B0604020202020204" pitchFamily="34" charset="0"/>
                <a:buChar char="•"/>
              </a:pPr>
              <a:r>
                <a:rPr lang="en-IN" sz="2400" dirty="0"/>
                <a:t>Proof-of-work hiring via paid trial tasks</a:t>
              </a:r>
            </a:p>
            <a:p>
              <a:pPr>
                <a:lnSpc>
                  <a:spcPct val="150000"/>
                </a:lnSpc>
              </a:pPr>
              <a:endParaRPr lang="en-IN" sz="2400" dirty="0"/>
            </a:p>
            <a:p>
              <a:pPr marL="342900" indent="-342900">
                <a:lnSpc>
                  <a:spcPct val="150000"/>
                </a:lnSpc>
                <a:buFont typeface="Arial" panose="020B0604020202020204" pitchFamily="34" charset="0"/>
                <a:buChar char="•"/>
              </a:pPr>
              <a:endParaRPr lang="en-GB" sz="2400" dirty="0"/>
            </a:p>
          </p:txBody>
        </p:sp>
      </p:grpSp>
      <p:sp>
        <p:nvSpPr>
          <p:cNvPr id="4" name="TextBox 3">
            <a:extLst>
              <a:ext uri="{FF2B5EF4-FFF2-40B4-BE49-F238E27FC236}">
                <a16:creationId xmlns:a16="http://schemas.microsoft.com/office/drawing/2014/main" id="{DDAD9E57-6DA0-1478-59DE-603FCADB7F09}"/>
              </a:ext>
            </a:extLst>
          </p:cNvPr>
          <p:cNvSpPr txBox="1"/>
          <p:nvPr/>
        </p:nvSpPr>
        <p:spPr>
          <a:xfrm>
            <a:off x="1611399" y="2329155"/>
            <a:ext cx="9284108" cy="646331"/>
          </a:xfrm>
          <a:prstGeom prst="rect">
            <a:avLst/>
          </a:prstGeom>
          <a:noFill/>
        </p:spPr>
        <p:txBody>
          <a:bodyPr wrap="square">
            <a:spAutoFit/>
          </a:bodyPr>
          <a:lstStyle/>
          <a:p>
            <a:r>
              <a:rPr lang="en-IN" sz="3600" b="1" dirty="0"/>
              <a:t>Technical &amp; Structural Implementation</a:t>
            </a:r>
          </a:p>
        </p:txBody>
      </p:sp>
    </p:spTree>
    <p:extLst>
      <p:ext uri="{BB962C8B-B14F-4D97-AF65-F5344CB8AC3E}">
        <p14:creationId xmlns:p14="http://schemas.microsoft.com/office/powerpoint/2010/main" val="5697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7"/>
          <p:cNvSpPr/>
          <p:nvPr/>
        </p:nvSpPr>
        <p:spPr>
          <a:xfrm>
            <a:off x="15265730" y="-462266"/>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58" name="Google Shape;158;p17"/>
          <p:cNvSpPr txBox="1"/>
          <p:nvPr/>
        </p:nvSpPr>
        <p:spPr>
          <a:xfrm>
            <a:off x="6044498" y="239198"/>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a:solidFill>
                  <a:srgbClr val="1F497D"/>
                </a:solidFill>
                <a:latin typeface="Garamond"/>
                <a:ea typeface="Garamond"/>
                <a:cs typeface="Garamond"/>
                <a:sym typeface="Garamond"/>
              </a:rPr>
              <a:t>SATWA 202</a:t>
            </a:r>
            <a:r>
              <a:rPr lang="en-US" sz="7499" b="1">
                <a:solidFill>
                  <a:srgbClr val="1F497D"/>
                </a:solidFill>
                <a:latin typeface="Garamond"/>
                <a:ea typeface="Garamond"/>
                <a:cs typeface="Garamond"/>
                <a:sym typeface="Garamond"/>
              </a:rPr>
              <a:t>6</a:t>
            </a:r>
            <a:endParaRPr/>
          </a:p>
        </p:txBody>
      </p:sp>
      <p:sp>
        <p:nvSpPr>
          <p:cNvPr id="159" name="Google Shape;159;p17"/>
          <p:cNvSpPr txBox="1"/>
          <p:nvPr/>
        </p:nvSpPr>
        <p:spPr>
          <a:xfrm>
            <a:off x="2285124" y="1315523"/>
            <a:ext cx="13717800" cy="5067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a:solidFill>
                  <a:srgbClr val="000000"/>
                </a:solidFill>
                <a:latin typeface="Arial"/>
                <a:ea typeface="Arial"/>
                <a:cs typeface="Arial"/>
                <a:sym typeface="Arial"/>
              </a:rPr>
              <a:t>TITLE</a:t>
            </a:r>
            <a:r>
              <a:rPr lang="en-US" sz="3291" b="1" i="0" u="none" strike="noStrike" cap="none">
                <a:solidFill>
                  <a:srgbClr val="000000"/>
                </a:solidFill>
                <a:latin typeface="Arial"/>
                <a:ea typeface="Arial"/>
                <a:cs typeface="Arial"/>
                <a:sym typeface="Arial"/>
              </a:rPr>
              <a:t> : </a:t>
            </a:r>
            <a:r>
              <a:rPr lang="en-US" sz="3291" i="1"/>
              <a:t>Engineering Resilience - Designing for Uncertainty</a:t>
            </a:r>
            <a:endParaRPr sz="3291" b="0" i="1" u="none" strike="noStrike" cap="none">
              <a:solidFill>
                <a:srgbClr val="000000"/>
              </a:solidFill>
              <a:latin typeface="Arial"/>
              <a:ea typeface="Arial"/>
              <a:cs typeface="Arial"/>
              <a:sym typeface="Arial"/>
            </a:endParaRPr>
          </a:p>
        </p:txBody>
      </p:sp>
      <p:sp>
        <p:nvSpPr>
          <p:cNvPr id="160" name="Google Shape;160;p17"/>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161" name="Google Shape;161;p17"/>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a:t>
            </a:r>
            <a:r>
              <a:rPr lang="en-US" sz="1800" b="0" i="0" u="none" strike="noStrike" cap="none">
                <a:solidFill>
                  <a:srgbClr val="FFFFFF"/>
                </a:solidFill>
                <a:latin typeface="Oswald"/>
                <a:ea typeface="Oswald"/>
                <a:cs typeface="Oswald"/>
                <a:sym typeface="Oswald"/>
              </a:rPr>
              <a:t> - Template</a:t>
            </a:r>
            <a:endParaRPr/>
          </a:p>
        </p:txBody>
      </p:sp>
      <p:sp>
        <p:nvSpPr>
          <p:cNvPr id="163" name="Google Shape;163;p17"/>
          <p:cNvSpPr txBox="1"/>
          <p:nvPr/>
        </p:nvSpPr>
        <p:spPr>
          <a:xfrm>
            <a:off x="1405989" y="2013510"/>
            <a:ext cx="6837600" cy="732508"/>
          </a:xfrm>
          <a:prstGeom prst="rect">
            <a:avLst/>
          </a:prstGeom>
          <a:noFill/>
          <a:ln>
            <a:noFill/>
          </a:ln>
        </p:spPr>
        <p:txBody>
          <a:bodyPr spcFirstLastPara="1" wrap="square" lIns="0" tIns="0" rIns="0" bIns="0" anchor="t" anchorCtr="0">
            <a:spAutoFit/>
          </a:bodyPr>
          <a:lstStyle/>
          <a:p>
            <a:pPr marL="0" marR="0" lvl="0" indent="0" rtl="0">
              <a:lnSpc>
                <a:spcPct val="140005"/>
              </a:lnSpc>
              <a:spcBef>
                <a:spcPts val="0"/>
              </a:spcBef>
              <a:spcAft>
                <a:spcPts val="0"/>
              </a:spcAft>
              <a:buNone/>
            </a:pPr>
            <a:r>
              <a:rPr lang="en-US" sz="3400" b="1" i="0" u="sng" strike="noStrike" cap="none" dirty="0">
                <a:solidFill>
                  <a:srgbClr val="000000"/>
                </a:solidFill>
                <a:latin typeface="Arial"/>
                <a:ea typeface="Arial"/>
                <a:cs typeface="Arial"/>
                <a:sym typeface="Arial"/>
              </a:rPr>
              <a:t>TECHNICAL APPROAC</a:t>
            </a:r>
            <a:r>
              <a:rPr lang="en-US" sz="3400" b="1" u="sng" dirty="0"/>
              <a:t>H</a:t>
            </a:r>
            <a:endParaRPr sz="3400" u="sng" dirty="0"/>
          </a:p>
        </p:txBody>
      </p:sp>
      <p:pic>
        <p:nvPicPr>
          <p:cNvPr id="3" name="Picture 2">
            <a:extLst>
              <a:ext uri="{FF2B5EF4-FFF2-40B4-BE49-F238E27FC236}">
                <a16:creationId xmlns:a16="http://schemas.microsoft.com/office/drawing/2014/main" id="{141C5B88-3D0F-A043-706B-DA12B775ABF9}"/>
              </a:ext>
            </a:extLst>
          </p:cNvPr>
          <p:cNvPicPr>
            <a:picLocks noChangeAspect="1"/>
          </p:cNvPicPr>
          <p:nvPr/>
        </p:nvPicPr>
        <p:blipFill>
          <a:blip r:embed="rId4"/>
          <a:stretch>
            <a:fillRect/>
          </a:stretch>
        </p:blipFill>
        <p:spPr>
          <a:xfrm>
            <a:off x="1405989" y="3600012"/>
            <a:ext cx="15407165" cy="5547023"/>
          </a:xfrm>
          <a:prstGeom prst="rect">
            <a:avLst/>
          </a:prstGeom>
        </p:spPr>
      </p:pic>
      <p:sp>
        <p:nvSpPr>
          <p:cNvPr id="4" name="TextBox 3">
            <a:extLst>
              <a:ext uri="{FF2B5EF4-FFF2-40B4-BE49-F238E27FC236}">
                <a16:creationId xmlns:a16="http://schemas.microsoft.com/office/drawing/2014/main" id="{850E2DEA-EF4A-ABDA-E4DA-72B2C4758A43}"/>
              </a:ext>
            </a:extLst>
          </p:cNvPr>
          <p:cNvSpPr txBox="1"/>
          <p:nvPr/>
        </p:nvSpPr>
        <p:spPr>
          <a:xfrm>
            <a:off x="1405989" y="2949844"/>
            <a:ext cx="4711546" cy="584775"/>
          </a:xfrm>
          <a:prstGeom prst="rect">
            <a:avLst/>
          </a:prstGeom>
          <a:noFill/>
        </p:spPr>
        <p:txBody>
          <a:bodyPr wrap="none" rtlCol="0">
            <a:spAutoFit/>
          </a:bodyPr>
          <a:lstStyle/>
          <a:p>
            <a:r>
              <a:rPr lang="en-IN" sz="3200" b="1" dirty="0"/>
              <a:t>Frontend Technologies</a:t>
            </a:r>
            <a:endParaRPr lang="en-IN"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CA14F617-581A-C9F8-606D-86844BEC8D4C}"/>
            </a:ext>
          </a:extLst>
        </p:cNvPr>
        <p:cNvGrpSpPr/>
        <p:nvPr/>
      </p:nvGrpSpPr>
      <p:grpSpPr>
        <a:xfrm>
          <a:off x="0" y="0"/>
          <a:ext cx="0" cy="0"/>
          <a:chOff x="0" y="0"/>
          <a:chExt cx="0" cy="0"/>
        </a:xfrm>
      </p:grpSpPr>
      <p:sp>
        <p:nvSpPr>
          <p:cNvPr id="156" name="Google Shape;156;p17">
            <a:extLst>
              <a:ext uri="{FF2B5EF4-FFF2-40B4-BE49-F238E27FC236}">
                <a16:creationId xmlns:a16="http://schemas.microsoft.com/office/drawing/2014/main" id="{8D5A1044-C67C-1D5D-43A3-64399B823EC4}"/>
              </a:ext>
            </a:extLst>
          </p:cNvPr>
          <p:cNvSpPr/>
          <p:nvPr/>
        </p:nvSpPr>
        <p:spPr>
          <a:xfrm>
            <a:off x="15265730" y="-462266"/>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58" name="Google Shape;158;p17">
            <a:extLst>
              <a:ext uri="{FF2B5EF4-FFF2-40B4-BE49-F238E27FC236}">
                <a16:creationId xmlns:a16="http://schemas.microsoft.com/office/drawing/2014/main" id="{8CD63A7C-6213-35B7-565F-4DCD5812E3B3}"/>
              </a:ext>
            </a:extLst>
          </p:cNvPr>
          <p:cNvSpPr txBox="1"/>
          <p:nvPr/>
        </p:nvSpPr>
        <p:spPr>
          <a:xfrm>
            <a:off x="6044498" y="-203254"/>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dirty="0">
                <a:solidFill>
                  <a:srgbClr val="1F497D"/>
                </a:solidFill>
                <a:latin typeface="Garamond"/>
                <a:ea typeface="Garamond"/>
                <a:cs typeface="Garamond"/>
                <a:sym typeface="Garamond"/>
              </a:rPr>
              <a:t>SATWA 202</a:t>
            </a:r>
            <a:r>
              <a:rPr lang="en-US" sz="7499" b="1" dirty="0">
                <a:solidFill>
                  <a:srgbClr val="1F497D"/>
                </a:solidFill>
                <a:latin typeface="Garamond"/>
                <a:ea typeface="Garamond"/>
                <a:cs typeface="Garamond"/>
                <a:sym typeface="Garamond"/>
              </a:rPr>
              <a:t>6</a:t>
            </a:r>
            <a:endParaRPr dirty="0"/>
          </a:p>
        </p:txBody>
      </p:sp>
      <p:sp>
        <p:nvSpPr>
          <p:cNvPr id="159" name="Google Shape;159;p17">
            <a:extLst>
              <a:ext uri="{FF2B5EF4-FFF2-40B4-BE49-F238E27FC236}">
                <a16:creationId xmlns:a16="http://schemas.microsoft.com/office/drawing/2014/main" id="{F3D9950F-4DE4-7788-5F65-A78FB4FD51C0}"/>
              </a:ext>
            </a:extLst>
          </p:cNvPr>
          <p:cNvSpPr txBox="1"/>
          <p:nvPr/>
        </p:nvSpPr>
        <p:spPr>
          <a:xfrm>
            <a:off x="2285124" y="873071"/>
            <a:ext cx="13717800" cy="5067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dirty="0">
                <a:solidFill>
                  <a:srgbClr val="000000"/>
                </a:solidFill>
                <a:latin typeface="Arial"/>
                <a:ea typeface="Arial"/>
                <a:cs typeface="Arial"/>
                <a:sym typeface="Arial"/>
              </a:rPr>
              <a:t>TITLE</a:t>
            </a:r>
            <a:r>
              <a:rPr lang="en-US" sz="3291" b="1" i="0" u="none" strike="noStrike" cap="none" dirty="0">
                <a:solidFill>
                  <a:srgbClr val="000000"/>
                </a:solidFill>
                <a:latin typeface="Arial"/>
                <a:ea typeface="Arial"/>
                <a:cs typeface="Arial"/>
                <a:sym typeface="Arial"/>
              </a:rPr>
              <a:t> : </a:t>
            </a:r>
            <a:r>
              <a:rPr lang="en-US" sz="3291" i="1" dirty="0"/>
              <a:t>Engineering Resilience - Designing for Uncertainty</a:t>
            </a:r>
            <a:endParaRPr sz="3291" b="0" i="1" u="none" strike="noStrike" cap="none" dirty="0">
              <a:solidFill>
                <a:srgbClr val="000000"/>
              </a:solidFill>
              <a:latin typeface="Arial"/>
              <a:ea typeface="Arial"/>
              <a:cs typeface="Arial"/>
              <a:sym typeface="Arial"/>
            </a:endParaRPr>
          </a:p>
        </p:txBody>
      </p:sp>
      <p:sp>
        <p:nvSpPr>
          <p:cNvPr id="160" name="Google Shape;160;p17">
            <a:extLst>
              <a:ext uri="{FF2B5EF4-FFF2-40B4-BE49-F238E27FC236}">
                <a16:creationId xmlns:a16="http://schemas.microsoft.com/office/drawing/2014/main" id="{D046027B-39C3-018A-0DA4-128B904A2DC8}"/>
              </a:ext>
            </a:extLst>
          </p:cNvPr>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161" name="Google Shape;161;p17">
            <a:extLst>
              <a:ext uri="{FF2B5EF4-FFF2-40B4-BE49-F238E27FC236}">
                <a16:creationId xmlns:a16="http://schemas.microsoft.com/office/drawing/2014/main" id="{F4F9A728-F33B-E04A-99ED-F23A94D56F1F}"/>
              </a:ext>
            </a:extLst>
          </p:cNvPr>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a:t>
            </a:r>
            <a:r>
              <a:rPr lang="en-US" sz="1800" b="0" i="0" u="none" strike="noStrike" cap="none">
                <a:solidFill>
                  <a:srgbClr val="FFFFFF"/>
                </a:solidFill>
                <a:latin typeface="Oswald"/>
                <a:ea typeface="Oswald"/>
                <a:cs typeface="Oswald"/>
                <a:sym typeface="Oswald"/>
              </a:rPr>
              <a:t> - Template</a:t>
            </a:r>
            <a:endParaRPr/>
          </a:p>
        </p:txBody>
      </p:sp>
      <p:sp>
        <p:nvSpPr>
          <p:cNvPr id="4" name="TextBox 3">
            <a:extLst>
              <a:ext uri="{FF2B5EF4-FFF2-40B4-BE49-F238E27FC236}">
                <a16:creationId xmlns:a16="http://schemas.microsoft.com/office/drawing/2014/main" id="{7FFE8004-F015-D7A7-A64E-B6444F461CF9}"/>
              </a:ext>
            </a:extLst>
          </p:cNvPr>
          <p:cNvSpPr txBox="1"/>
          <p:nvPr/>
        </p:nvSpPr>
        <p:spPr>
          <a:xfrm>
            <a:off x="1405989" y="1607752"/>
            <a:ext cx="4644220" cy="584775"/>
          </a:xfrm>
          <a:prstGeom prst="rect">
            <a:avLst/>
          </a:prstGeom>
          <a:noFill/>
        </p:spPr>
        <p:txBody>
          <a:bodyPr wrap="none" rtlCol="0">
            <a:spAutoFit/>
          </a:bodyPr>
          <a:lstStyle/>
          <a:p>
            <a:r>
              <a:rPr lang="en-IN" sz="3200" b="1" dirty="0"/>
              <a:t>Backend Technologies</a:t>
            </a:r>
            <a:endParaRPr lang="en-IN" sz="3200" dirty="0"/>
          </a:p>
        </p:txBody>
      </p:sp>
      <p:pic>
        <p:nvPicPr>
          <p:cNvPr id="5" name="Picture 4">
            <a:extLst>
              <a:ext uri="{FF2B5EF4-FFF2-40B4-BE49-F238E27FC236}">
                <a16:creationId xmlns:a16="http://schemas.microsoft.com/office/drawing/2014/main" id="{06C312F6-195D-B7D3-3F5F-2156CD19238F}"/>
              </a:ext>
            </a:extLst>
          </p:cNvPr>
          <p:cNvPicPr>
            <a:picLocks noChangeAspect="1"/>
          </p:cNvPicPr>
          <p:nvPr/>
        </p:nvPicPr>
        <p:blipFill>
          <a:blip r:embed="rId4"/>
          <a:stretch>
            <a:fillRect/>
          </a:stretch>
        </p:blipFill>
        <p:spPr>
          <a:xfrm>
            <a:off x="1405989" y="2261275"/>
            <a:ext cx="15091599" cy="3294645"/>
          </a:xfrm>
          <a:prstGeom prst="rect">
            <a:avLst/>
          </a:prstGeom>
        </p:spPr>
      </p:pic>
      <p:sp>
        <p:nvSpPr>
          <p:cNvPr id="8" name="TextBox 7">
            <a:extLst>
              <a:ext uri="{FF2B5EF4-FFF2-40B4-BE49-F238E27FC236}">
                <a16:creationId xmlns:a16="http://schemas.microsoft.com/office/drawing/2014/main" id="{1364C5C3-F069-CE02-D8DE-51A7F2E1AE10}"/>
              </a:ext>
            </a:extLst>
          </p:cNvPr>
          <p:cNvSpPr txBox="1"/>
          <p:nvPr/>
        </p:nvSpPr>
        <p:spPr>
          <a:xfrm>
            <a:off x="1405989" y="5852649"/>
            <a:ext cx="4419800" cy="584775"/>
          </a:xfrm>
          <a:prstGeom prst="rect">
            <a:avLst/>
          </a:prstGeom>
          <a:noFill/>
        </p:spPr>
        <p:txBody>
          <a:bodyPr wrap="none" rtlCol="0">
            <a:spAutoFit/>
          </a:bodyPr>
          <a:lstStyle/>
          <a:p>
            <a:r>
              <a:rPr lang="en-IN" sz="3200" b="1" dirty="0"/>
              <a:t>Security Components</a:t>
            </a:r>
          </a:p>
        </p:txBody>
      </p:sp>
      <p:pic>
        <p:nvPicPr>
          <p:cNvPr id="10" name="Picture 9">
            <a:extLst>
              <a:ext uri="{FF2B5EF4-FFF2-40B4-BE49-F238E27FC236}">
                <a16:creationId xmlns:a16="http://schemas.microsoft.com/office/drawing/2014/main" id="{08631753-4587-2745-CA2D-9F42EF64F7CC}"/>
              </a:ext>
            </a:extLst>
          </p:cNvPr>
          <p:cNvPicPr>
            <a:picLocks noChangeAspect="1"/>
          </p:cNvPicPr>
          <p:nvPr/>
        </p:nvPicPr>
        <p:blipFill>
          <a:blip r:embed="rId5"/>
          <a:stretch>
            <a:fillRect/>
          </a:stretch>
        </p:blipFill>
        <p:spPr>
          <a:xfrm>
            <a:off x="1405989" y="6478636"/>
            <a:ext cx="15274976" cy="2718731"/>
          </a:xfrm>
          <a:prstGeom prst="rect">
            <a:avLst/>
          </a:prstGeom>
        </p:spPr>
      </p:pic>
    </p:spTree>
    <p:extLst>
      <p:ext uri="{BB962C8B-B14F-4D97-AF65-F5344CB8AC3E}">
        <p14:creationId xmlns:p14="http://schemas.microsoft.com/office/powerpoint/2010/main" val="2221762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8"/>
          <p:cNvSpPr/>
          <p:nvPr/>
        </p:nvSpPr>
        <p:spPr>
          <a:xfrm>
            <a:off x="15265730" y="-373764"/>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73" name="Google Shape;173;p18"/>
          <p:cNvSpPr/>
          <p:nvPr/>
        </p:nvSpPr>
        <p:spPr>
          <a:xfrm>
            <a:off x="6610379" y="3945692"/>
            <a:ext cx="11955364" cy="4471369"/>
          </a:xfrm>
          <a:custGeom>
            <a:avLst/>
            <a:gdLst/>
            <a:ahLst/>
            <a:cxnLst/>
            <a:rect l="l" t="t" r="r" b="b"/>
            <a:pathLst>
              <a:path w="11955364" h="4471369" extrusionOk="0">
                <a:moveTo>
                  <a:pt x="0" y="0"/>
                </a:moveTo>
                <a:lnTo>
                  <a:pt x="11955365" y="0"/>
                </a:lnTo>
                <a:lnTo>
                  <a:pt x="11955365" y="4471369"/>
                </a:lnTo>
                <a:lnTo>
                  <a:pt x="0" y="4471369"/>
                </a:lnTo>
                <a:lnTo>
                  <a:pt x="0" y="0"/>
                </a:lnTo>
                <a:close/>
              </a:path>
            </a:pathLst>
          </a:custGeom>
          <a:blipFill rotWithShape="1">
            <a:blip r:embed="rId4">
              <a:alphaModFix amt="30000"/>
            </a:blip>
            <a:stretch>
              <a:fillRect t="-83947" b="-83418"/>
            </a:stretch>
          </a:blipFill>
          <a:ln>
            <a:noFill/>
          </a:ln>
        </p:spPr>
      </p:sp>
      <p:sp>
        <p:nvSpPr>
          <p:cNvPr id="174" name="Google Shape;174;p18"/>
          <p:cNvSpPr txBox="1"/>
          <p:nvPr/>
        </p:nvSpPr>
        <p:spPr>
          <a:xfrm>
            <a:off x="6044498" y="-70502"/>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dirty="0">
                <a:solidFill>
                  <a:srgbClr val="1F497D"/>
                </a:solidFill>
                <a:latin typeface="Garamond"/>
                <a:ea typeface="Garamond"/>
                <a:cs typeface="Garamond"/>
                <a:sym typeface="Garamond"/>
              </a:rPr>
              <a:t>SATWA 202</a:t>
            </a:r>
            <a:r>
              <a:rPr lang="en-US" sz="7499" b="1" dirty="0">
                <a:solidFill>
                  <a:srgbClr val="1F497D"/>
                </a:solidFill>
                <a:latin typeface="Garamond"/>
                <a:ea typeface="Garamond"/>
                <a:cs typeface="Garamond"/>
                <a:sym typeface="Garamond"/>
              </a:rPr>
              <a:t>6</a:t>
            </a:r>
            <a:endParaRPr dirty="0"/>
          </a:p>
        </p:txBody>
      </p:sp>
      <p:sp>
        <p:nvSpPr>
          <p:cNvPr id="175" name="Google Shape;175;p18"/>
          <p:cNvSpPr txBox="1"/>
          <p:nvPr/>
        </p:nvSpPr>
        <p:spPr>
          <a:xfrm>
            <a:off x="2285124" y="1005823"/>
            <a:ext cx="13717800" cy="11151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dirty="0">
                <a:solidFill>
                  <a:srgbClr val="000000"/>
                </a:solidFill>
                <a:latin typeface="Arial"/>
                <a:ea typeface="Arial"/>
                <a:cs typeface="Arial"/>
                <a:sym typeface="Arial"/>
              </a:rPr>
              <a:t>TITLE</a:t>
            </a:r>
            <a:r>
              <a:rPr lang="en-US" sz="3291" b="1" i="0" u="none" strike="noStrike" cap="none" dirty="0">
                <a:solidFill>
                  <a:srgbClr val="000000"/>
                </a:solidFill>
                <a:latin typeface="Arial"/>
                <a:ea typeface="Arial"/>
                <a:cs typeface="Arial"/>
                <a:sym typeface="Arial"/>
              </a:rPr>
              <a:t> : </a:t>
            </a:r>
            <a:r>
              <a:rPr lang="en-US" sz="3291" i="1" dirty="0"/>
              <a:t>Engineering Resilience - Designing for Uncertainty</a:t>
            </a:r>
            <a:endParaRPr i="1" dirty="0"/>
          </a:p>
          <a:p>
            <a:pPr marL="0" marR="0" lvl="0" indent="0" algn="ctr" rtl="0">
              <a:lnSpc>
                <a:spcPct val="120018"/>
              </a:lnSpc>
              <a:spcBef>
                <a:spcPts val="0"/>
              </a:spcBef>
              <a:spcAft>
                <a:spcPts val="0"/>
              </a:spcAft>
              <a:buNone/>
            </a:pPr>
            <a:endParaRPr sz="3291" b="0" i="0" u="none" strike="noStrike" cap="none" dirty="0">
              <a:solidFill>
                <a:srgbClr val="000000"/>
              </a:solidFill>
              <a:latin typeface="Arial"/>
              <a:ea typeface="Arial"/>
              <a:cs typeface="Arial"/>
              <a:sym typeface="Arial"/>
            </a:endParaRPr>
          </a:p>
        </p:txBody>
      </p:sp>
      <p:sp>
        <p:nvSpPr>
          <p:cNvPr id="177" name="Google Shape;177;p18"/>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a:t>
            </a:r>
            <a:r>
              <a:rPr lang="en-US" sz="1800" b="0" i="0" u="none" strike="noStrike" cap="none">
                <a:solidFill>
                  <a:srgbClr val="FFFFFF"/>
                </a:solidFill>
                <a:latin typeface="Oswald"/>
                <a:ea typeface="Oswald"/>
                <a:cs typeface="Oswald"/>
                <a:sym typeface="Oswald"/>
              </a:rPr>
              <a:t> - Template</a:t>
            </a:r>
            <a:endParaRPr/>
          </a:p>
        </p:txBody>
      </p:sp>
      <p:sp>
        <p:nvSpPr>
          <p:cNvPr id="178" name="Google Shape;178;p18"/>
          <p:cNvSpPr txBox="1"/>
          <p:nvPr/>
        </p:nvSpPr>
        <p:spPr>
          <a:xfrm>
            <a:off x="1248530" y="2463485"/>
            <a:ext cx="14017200" cy="8079135"/>
          </a:xfrm>
          <a:prstGeom prst="rect">
            <a:avLst/>
          </a:prstGeom>
          <a:noFill/>
          <a:ln>
            <a:noFill/>
          </a:ln>
        </p:spPr>
        <p:txBody>
          <a:bodyPr spcFirstLastPara="1" wrap="square" lIns="0" tIns="0" rIns="0" bIns="0" anchor="t" anchorCtr="0">
            <a:spAutoFit/>
          </a:bodyPr>
          <a:lstStyle/>
          <a:p>
            <a:pPr>
              <a:lnSpc>
                <a:spcPct val="150000"/>
              </a:lnSpc>
            </a:pPr>
            <a:r>
              <a:rPr lang="en-IN" sz="2500" b="1" dirty="0"/>
              <a:t>Social Benefits</a:t>
            </a:r>
          </a:p>
          <a:p>
            <a:pPr marL="342900" indent="-342900">
              <a:lnSpc>
                <a:spcPct val="150000"/>
              </a:lnSpc>
              <a:buFont typeface="Arial" panose="020B0604020202020204" pitchFamily="34" charset="0"/>
              <a:buChar char="•"/>
            </a:pPr>
            <a:r>
              <a:rPr lang="en-IN" sz="2500" dirty="0"/>
              <a:t>Builds trust between freelancers and clients</a:t>
            </a:r>
          </a:p>
          <a:p>
            <a:pPr marL="342900" indent="-342900">
              <a:lnSpc>
                <a:spcPct val="150000"/>
              </a:lnSpc>
              <a:buFont typeface="Arial" panose="020B0604020202020204" pitchFamily="34" charset="0"/>
              <a:buChar char="•"/>
            </a:pPr>
            <a:r>
              <a:rPr lang="en-IN" sz="2500" dirty="0"/>
              <a:t>Promotes fair evaluation and transparent communication</a:t>
            </a:r>
          </a:p>
          <a:p>
            <a:pPr marL="342900" indent="-342900">
              <a:lnSpc>
                <a:spcPct val="150000"/>
              </a:lnSpc>
              <a:buFont typeface="Arial" panose="020B0604020202020204" pitchFamily="34" charset="0"/>
              <a:buChar char="•"/>
            </a:pPr>
            <a:r>
              <a:rPr lang="en-IN" sz="2500" dirty="0"/>
              <a:t>Protects individuals from exploitation and hidden penalties</a:t>
            </a:r>
          </a:p>
          <a:p>
            <a:pPr>
              <a:lnSpc>
                <a:spcPct val="150000"/>
              </a:lnSpc>
            </a:pPr>
            <a:r>
              <a:rPr lang="en-IN" sz="2500" b="1" dirty="0"/>
              <a:t>Economic Benefits</a:t>
            </a:r>
          </a:p>
          <a:p>
            <a:pPr marL="342900" indent="-342900">
              <a:lnSpc>
                <a:spcPct val="150000"/>
              </a:lnSpc>
              <a:buFont typeface="Arial" panose="020B0604020202020204" pitchFamily="34" charset="0"/>
              <a:buChar char="•"/>
            </a:pPr>
            <a:r>
              <a:rPr lang="en-IN" sz="2500" dirty="0"/>
              <a:t>Lower platform fee (10%) increases freelancer earnings</a:t>
            </a:r>
          </a:p>
          <a:p>
            <a:pPr marL="342900" indent="-342900">
              <a:lnSpc>
                <a:spcPct val="150000"/>
              </a:lnSpc>
              <a:buFont typeface="Arial" panose="020B0604020202020204" pitchFamily="34" charset="0"/>
              <a:buChar char="•"/>
            </a:pPr>
            <a:r>
              <a:rPr lang="en-IN" sz="2500" dirty="0"/>
              <a:t>Faster dispute resolution reduces financial uncertainty</a:t>
            </a:r>
          </a:p>
          <a:p>
            <a:pPr marL="342900" indent="-342900">
              <a:lnSpc>
                <a:spcPct val="150000"/>
              </a:lnSpc>
              <a:buFont typeface="Arial" panose="020B0604020202020204" pitchFamily="34" charset="0"/>
              <a:buChar char="•"/>
            </a:pPr>
            <a:r>
              <a:rPr lang="en-IN" sz="2500" dirty="0"/>
              <a:t>Proof-of-work hiring reduces costly hiring mistakes</a:t>
            </a:r>
          </a:p>
          <a:p>
            <a:pPr marL="342900" indent="-342900">
              <a:lnSpc>
                <a:spcPct val="150000"/>
              </a:lnSpc>
              <a:buFont typeface="Arial" panose="020B0604020202020204" pitchFamily="34" charset="0"/>
              <a:buChar char="•"/>
            </a:pPr>
            <a:r>
              <a:rPr lang="en-IN" sz="2500" dirty="0"/>
              <a:t>Transparent strike system prevents unfair permanent bans</a:t>
            </a:r>
          </a:p>
          <a:p>
            <a:pPr>
              <a:lnSpc>
                <a:spcPct val="150000"/>
              </a:lnSpc>
            </a:pPr>
            <a:r>
              <a:rPr lang="en-IN" sz="2500" b="1" dirty="0"/>
              <a:t>Digital &amp; Community Resilience</a:t>
            </a:r>
          </a:p>
          <a:p>
            <a:pPr marL="342900" indent="-342900">
              <a:lnSpc>
                <a:spcPct val="150000"/>
              </a:lnSpc>
              <a:buFont typeface="Arial" panose="020B0604020202020204" pitchFamily="34" charset="0"/>
              <a:buChar char="•"/>
            </a:pPr>
            <a:r>
              <a:rPr lang="en-IN" sz="2500" dirty="0"/>
              <a:t>Multi-layer fraud detection improves platform safety</a:t>
            </a:r>
          </a:p>
          <a:p>
            <a:pPr marL="342900" indent="-342900">
              <a:lnSpc>
                <a:spcPct val="150000"/>
              </a:lnSpc>
              <a:buFont typeface="Arial" panose="020B0604020202020204" pitchFamily="34" charset="0"/>
              <a:buChar char="•"/>
            </a:pPr>
            <a:r>
              <a:rPr lang="en-IN" sz="2500" dirty="0"/>
              <a:t>Transparent workload system prevents oversubscription</a:t>
            </a:r>
          </a:p>
          <a:p>
            <a:pPr marL="342900" indent="-342900">
              <a:lnSpc>
                <a:spcPct val="150000"/>
              </a:lnSpc>
              <a:buFont typeface="Arial" panose="020B0604020202020204" pitchFamily="34" charset="0"/>
              <a:buChar char="•"/>
            </a:pPr>
            <a:r>
              <a:rPr lang="en-IN" sz="2500" dirty="0"/>
              <a:t>Reputation analytics encourage long-term sustainable careers</a:t>
            </a:r>
          </a:p>
          <a:p>
            <a:pPr marL="0" marR="0" lvl="0" indent="0" algn="just" rtl="0">
              <a:lnSpc>
                <a:spcPct val="150000"/>
              </a:lnSpc>
              <a:spcBef>
                <a:spcPts val="0"/>
              </a:spcBef>
              <a:spcAft>
                <a:spcPts val="0"/>
              </a:spcAft>
              <a:buNone/>
            </a:pPr>
            <a:endParaRPr sz="2500" b="0" i="0" u="none" strike="noStrike" cap="none" dirty="0">
              <a:solidFill>
                <a:srgbClr val="000000"/>
              </a:solidFill>
              <a:latin typeface="Arial"/>
              <a:ea typeface="Arial"/>
              <a:cs typeface="Arial"/>
              <a:sym typeface="Arial"/>
            </a:endParaRPr>
          </a:p>
        </p:txBody>
      </p:sp>
      <p:sp>
        <p:nvSpPr>
          <p:cNvPr id="179" name="Google Shape;179;p18"/>
          <p:cNvSpPr txBox="1"/>
          <p:nvPr/>
        </p:nvSpPr>
        <p:spPr>
          <a:xfrm>
            <a:off x="770699" y="1690315"/>
            <a:ext cx="8373300" cy="798680"/>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3707" b="1" i="0" u="none" strike="noStrike" cap="none" dirty="0">
                <a:solidFill>
                  <a:srgbClr val="000000"/>
                </a:solidFill>
                <a:latin typeface="Arial"/>
                <a:ea typeface="Arial"/>
                <a:cs typeface="Arial"/>
                <a:sym typeface="Arial"/>
              </a:rPr>
              <a:t>SOCIAL IMPACT AND BENEFITS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9"/>
          <p:cNvSpPr/>
          <p:nvPr/>
        </p:nvSpPr>
        <p:spPr>
          <a:xfrm>
            <a:off x="15265730" y="-329522"/>
            <a:ext cx="2555452" cy="2555452"/>
          </a:xfrm>
          <a:custGeom>
            <a:avLst/>
            <a:gdLst/>
            <a:ahLst/>
            <a:cxnLst/>
            <a:rect l="l" t="t" r="r" b="b"/>
            <a:pathLst>
              <a:path w="2555452" h="2555452" extrusionOk="0">
                <a:moveTo>
                  <a:pt x="0" y="0"/>
                </a:moveTo>
                <a:lnTo>
                  <a:pt x="2555452" y="0"/>
                </a:lnTo>
                <a:lnTo>
                  <a:pt x="2555452" y="2555452"/>
                </a:lnTo>
                <a:lnTo>
                  <a:pt x="0" y="2555452"/>
                </a:lnTo>
                <a:lnTo>
                  <a:pt x="0" y="0"/>
                </a:lnTo>
                <a:close/>
              </a:path>
            </a:pathLst>
          </a:custGeom>
          <a:blipFill rotWithShape="1">
            <a:blip r:embed="rId3">
              <a:alphaModFix/>
            </a:blip>
            <a:stretch>
              <a:fillRect/>
            </a:stretch>
          </a:blipFill>
          <a:ln>
            <a:noFill/>
          </a:ln>
        </p:spPr>
      </p:sp>
      <p:sp>
        <p:nvSpPr>
          <p:cNvPr id="189" name="Google Shape;189;p19"/>
          <p:cNvSpPr/>
          <p:nvPr/>
        </p:nvSpPr>
        <p:spPr>
          <a:xfrm>
            <a:off x="6610379" y="3945692"/>
            <a:ext cx="11955364" cy="4471369"/>
          </a:xfrm>
          <a:custGeom>
            <a:avLst/>
            <a:gdLst/>
            <a:ahLst/>
            <a:cxnLst/>
            <a:rect l="l" t="t" r="r" b="b"/>
            <a:pathLst>
              <a:path w="11955364" h="4471369" extrusionOk="0">
                <a:moveTo>
                  <a:pt x="0" y="0"/>
                </a:moveTo>
                <a:lnTo>
                  <a:pt x="11955365" y="0"/>
                </a:lnTo>
                <a:lnTo>
                  <a:pt x="11955365" y="4471369"/>
                </a:lnTo>
                <a:lnTo>
                  <a:pt x="0" y="4471369"/>
                </a:lnTo>
                <a:lnTo>
                  <a:pt x="0" y="0"/>
                </a:lnTo>
                <a:close/>
              </a:path>
            </a:pathLst>
          </a:custGeom>
          <a:blipFill rotWithShape="1">
            <a:blip r:embed="rId4">
              <a:alphaModFix amt="30000"/>
            </a:blip>
            <a:stretch>
              <a:fillRect t="-83947" b="-83418"/>
            </a:stretch>
          </a:blipFill>
          <a:ln>
            <a:noFill/>
          </a:ln>
        </p:spPr>
      </p:sp>
      <p:sp>
        <p:nvSpPr>
          <p:cNvPr id="190" name="Google Shape;190;p19"/>
          <p:cNvSpPr txBox="1"/>
          <p:nvPr/>
        </p:nvSpPr>
        <p:spPr>
          <a:xfrm>
            <a:off x="6044498" y="371942"/>
            <a:ext cx="7401300" cy="11544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499" b="1" i="0" u="none" strike="noStrike" cap="none" dirty="0">
                <a:solidFill>
                  <a:srgbClr val="1F497D"/>
                </a:solidFill>
                <a:latin typeface="Garamond"/>
                <a:ea typeface="Garamond"/>
                <a:cs typeface="Garamond"/>
                <a:sym typeface="Garamond"/>
              </a:rPr>
              <a:t>SATWA 202</a:t>
            </a:r>
            <a:r>
              <a:rPr lang="en-US" sz="7499" b="1" dirty="0">
                <a:solidFill>
                  <a:srgbClr val="1F497D"/>
                </a:solidFill>
                <a:latin typeface="Garamond"/>
                <a:ea typeface="Garamond"/>
                <a:cs typeface="Garamond"/>
                <a:sym typeface="Garamond"/>
              </a:rPr>
              <a:t>6</a:t>
            </a:r>
            <a:endParaRPr dirty="0"/>
          </a:p>
        </p:txBody>
      </p:sp>
      <p:sp>
        <p:nvSpPr>
          <p:cNvPr id="191" name="Google Shape;191;p19"/>
          <p:cNvSpPr txBox="1"/>
          <p:nvPr/>
        </p:nvSpPr>
        <p:spPr>
          <a:xfrm>
            <a:off x="2285124" y="1448267"/>
            <a:ext cx="13717800" cy="1115100"/>
          </a:xfrm>
          <a:prstGeom prst="rect">
            <a:avLst/>
          </a:prstGeom>
          <a:noFill/>
          <a:ln>
            <a:noFill/>
          </a:ln>
        </p:spPr>
        <p:txBody>
          <a:bodyPr spcFirstLastPara="1" wrap="square" lIns="0" tIns="0" rIns="0" bIns="0" anchor="t" anchorCtr="0">
            <a:spAutoFit/>
          </a:bodyPr>
          <a:lstStyle/>
          <a:p>
            <a:pPr marL="0" marR="0" lvl="0" indent="0" algn="ctr" rtl="0">
              <a:lnSpc>
                <a:spcPct val="120054"/>
              </a:lnSpc>
              <a:spcBef>
                <a:spcPts val="0"/>
              </a:spcBef>
              <a:spcAft>
                <a:spcPts val="0"/>
              </a:spcAft>
              <a:buNone/>
            </a:pPr>
            <a:r>
              <a:rPr lang="en-US" sz="3291" b="1" i="1" u="none" strike="noStrike" cap="none">
                <a:solidFill>
                  <a:srgbClr val="000000"/>
                </a:solidFill>
                <a:latin typeface="Arial"/>
                <a:ea typeface="Arial"/>
                <a:cs typeface="Arial"/>
                <a:sym typeface="Arial"/>
              </a:rPr>
              <a:t>TITLE</a:t>
            </a:r>
            <a:r>
              <a:rPr lang="en-US" sz="3291" b="1" i="0" u="none" strike="noStrike" cap="none">
                <a:solidFill>
                  <a:srgbClr val="000000"/>
                </a:solidFill>
                <a:latin typeface="Arial"/>
                <a:ea typeface="Arial"/>
                <a:cs typeface="Arial"/>
                <a:sym typeface="Arial"/>
              </a:rPr>
              <a:t> : </a:t>
            </a:r>
            <a:r>
              <a:rPr lang="en-US" sz="3291" i="1"/>
              <a:t>Engineering Resilience - Designing for Uncertainty</a:t>
            </a:r>
            <a:endParaRPr i="1"/>
          </a:p>
          <a:p>
            <a:pPr marL="0" marR="0" lvl="0" indent="0" algn="ctr" rtl="0">
              <a:lnSpc>
                <a:spcPct val="120018"/>
              </a:lnSpc>
              <a:spcBef>
                <a:spcPts val="0"/>
              </a:spcBef>
              <a:spcAft>
                <a:spcPts val="0"/>
              </a:spcAft>
              <a:buNone/>
            </a:pPr>
            <a:endParaRPr sz="3291" b="0" i="0" u="none" strike="noStrike" cap="none">
              <a:solidFill>
                <a:srgbClr val="000000"/>
              </a:solidFill>
              <a:latin typeface="Arial"/>
              <a:ea typeface="Arial"/>
              <a:cs typeface="Arial"/>
              <a:sym typeface="Arial"/>
            </a:endParaRPr>
          </a:p>
        </p:txBody>
      </p:sp>
      <p:sp>
        <p:nvSpPr>
          <p:cNvPr id="192" name="Google Shape;192;p19"/>
          <p:cNvSpPr/>
          <p:nvPr/>
        </p:nvSpPr>
        <p:spPr>
          <a:xfrm>
            <a:off x="0" y="9532143"/>
            <a:ext cx="18287999" cy="754856"/>
          </a:xfrm>
          <a:custGeom>
            <a:avLst/>
            <a:gdLst/>
            <a:ahLst/>
            <a:cxnLst/>
            <a:rect l="l" t="t" r="r" b="b"/>
            <a:pathLst>
              <a:path w="24384000" h="1006475" extrusionOk="0">
                <a:moveTo>
                  <a:pt x="0" y="0"/>
                </a:moveTo>
                <a:lnTo>
                  <a:pt x="24384000" y="0"/>
                </a:lnTo>
                <a:lnTo>
                  <a:pt x="24384000" y="1006475"/>
                </a:lnTo>
                <a:lnTo>
                  <a:pt x="0" y="1006475"/>
                </a:lnTo>
                <a:close/>
              </a:path>
            </a:pathLst>
          </a:custGeom>
          <a:solidFill>
            <a:srgbClr val="0070C0"/>
          </a:solidFill>
          <a:ln>
            <a:noFill/>
          </a:ln>
        </p:spPr>
      </p:sp>
      <p:sp>
        <p:nvSpPr>
          <p:cNvPr id="193" name="Google Shape;193;p19"/>
          <p:cNvSpPr txBox="1"/>
          <p:nvPr/>
        </p:nvSpPr>
        <p:spPr>
          <a:xfrm>
            <a:off x="7063725" y="9675023"/>
            <a:ext cx="46233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0" i="0" u="none" strike="noStrike" cap="none">
                <a:solidFill>
                  <a:srgbClr val="FFFFFF"/>
                </a:solidFill>
                <a:latin typeface="Oswald"/>
                <a:ea typeface="Oswald"/>
                <a:cs typeface="Oswald"/>
                <a:sym typeface="Oswald"/>
              </a:rPr>
              <a:t>@SATWA 202</a:t>
            </a:r>
            <a:r>
              <a:rPr lang="en-US" sz="1800">
                <a:solidFill>
                  <a:srgbClr val="FFFFFF"/>
                </a:solidFill>
                <a:latin typeface="Oswald"/>
                <a:ea typeface="Oswald"/>
                <a:cs typeface="Oswald"/>
                <a:sym typeface="Oswald"/>
              </a:rPr>
              <a:t>6 </a:t>
            </a:r>
            <a:r>
              <a:rPr lang="en-US" sz="1800" b="0" i="0" u="none" strike="noStrike" cap="none">
                <a:solidFill>
                  <a:srgbClr val="FFFFFF"/>
                </a:solidFill>
                <a:latin typeface="Oswald"/>
                <a:ea typeface="Oswald"/>
                <a:cs typeface="Oswald"/>
                <a:sym typeface="Oswald"/>
              </a:rPr>
              <a:t>- Template</a:t>
            </a:r>
            <a:endParaRPr/>
          </a:p>
        </p:txBody>
      </p:sp>
      <p:sp>
        <p:nvSpPr>
          <p:cNvPr id="194" name="Google Shape;194;p19"/>
          <p:cNvSpPr txBox="1"/>
          <p:nvPr/>
        </p:nvSpPr>
        <p:spPr>
          <a:xfrm>
            <a:off x="1028700" y="3211715"/>
            <a:ext cx="16792482" cy="6463308"/>
          </a:xfrm>
          <a:prstGeom prst="rect">
            <a:avLst/>
          </a:prstGeom>
          <a:noFill/>
          <a:ln>
            <a:noFill/>
          </a:ln>
        </p:spPr>
        <p:txBody>
          <a:bodyPr spcFirstLastPara="1" wrap="square" lIns="0" tIns="0" rIns="0" bIns="0" anchor="t" anchorCtr="0">
            <a:spAutoFit/>
          </a:bodyPr>
          <a:lstStyle/>
          <a:p>
            <a:pPr>
              <a:lnSpc>
                <a:spcPct val="150000"/>
              </a:lnSpc>
            </a:pPr>
            <a:r>
              <a:rPr lang="en-GB" sz="2800" dirty="0" err="1"/>
              <a:t>SmartGIG</a:t>
            </a:r>
            <a:r>
              <a:rPr lang="en-GB" sz="2800" dirty="0"/>
              <a:t> is a technically feasible and scalable solution built using proven modern web technologies and secure system design principles. By integrating escrow protection, device fingerprinting, multi-dimensional reputation scoring, and transparent workload visibility, the platform directly addresses the trust, fraud, and communication gaps present in traditional freelancing marketplaces. While challenges such as market competition, dispute handling efficiency, fraud prevention at scale, and infrastructure scalability exist, these risks are mitigated through structured dispute workflows, </a:t>
            </a:r>
            <a:r>
              <a:rPr lang="en-GB" sz="2800" dirty="0" err="1"/>
              <a:t>behavioral</a:t>
            </a:r>
            <a:r>
              <a:rPr lang="en-GB" sz="2800" dirty="0"/>
              <a:t> risk detection, and cloud-ready modular architecture. Moving forward, the platform can launch through a controlled pilot phase, continuously optimize performance and security, and expand toward building a resilient, transparent, and community-</a:t>
            </a:r>
            <a:r>
              <a:rPr lang="en-GB" sz="2800" dirty="0" err="1"/>
              <a:t>centered</a:t>
            </a:r>
            <a:r>
              <a:rPr lang="en-GB" sz="2800" dirty="0"/>
              <a:t> freelancing ecosystem.</a:t>
            </a:r>
          </a:p>
          <a:p>
            <a:pPr marL="0" marR="0" lvl="0" indent="0" algn="just" rtl="0">
              <a:lnSpc>
                <a:spcPct val="150000"/>
              </a:lnSpc>
              <a:spcBef>
                <a:spcPts val="0"/>
              </a:spcBef>
              <a:spcAft>
                <a:spcPts val="0"/>
              </a:spcAft>
              <a:buNone/>
            </a:pPr>
            <a:endParaRPr sz="2800" b="0" i="0" u="none" strike="noStrike" cap="none" dirty="0">
              <a:solidFill>
                <a:srgbClr val="000000"/>
              </a:solidFill>
              <a:latin typeface="Arial"/>
              <a:ea typeface="Arial"/>
              <a:cs typeface="Arial"/>
              <a:sym typeface="Arial"/>
            </a:endParaRPr>
          </a:p>
        </p:txBody>
      </p:sp>
      <p:sp>
        <p:nvSpPr>
          <p:cNvPr id="195" name="Google Shape;195;p19"/>
          <p:cNvSpPr txBox="1"/>
          <p:nvPr/>
        </p:nvSpPr>
        <p:spPr>
          <a:xfrm>
            <a:off x="911321" y="2376348"/>
            <a:ext cx="3311525" cy="629724"/>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3707" b="1" i="0" u="none" strike="noStrike" cap="none" dirty="0">
                <a:solidFill>
                  <a:srgbClr val="000000"/>
                </a:solidFill>
                <a:latin typeface="Arial"/>
                <a:ea typeface="Arial"/>
                <a:cs typeface="Arial"/>
                <a:sym typeface="Arial"/>
              </a:rPr>
              <a:t>CONCLUSION </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775</Words>
  <Application>Microsoft Office PowerPoint</Application>
  <PresentationFormat>Custom</PresentationFormat>
  <Paragraphs>111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Oswald</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Deepak</dc:creator>
  <cp:lastModifiedBy>Deepak Kumar</cp:lastModifiedBy>
  <cp:revision>1</cp:revision>
  <dcterms:modified xsi:type="dcterms:W3CDTF">2026-02-11T06:46:50Z</dcterms:modified>
</cp:coreProperties>
</file>